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Attention helps a word use its context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alone may be unclear. Other words help us understand it.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212080" cy="1508760"/>
          </a:xfrm>
          <a:prstGeom prst="roundRect">
            <a:avLst>
              <a:gd name="adj" fmla="val 9697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880360"/>
            <a:ext cx="4809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sat on the river bank.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6263640" y="2743200"/>
            <a:ext cx="5212080" cy="1508760"/>
          </a:xfrm>
          <a:prstGeom prst="roundRect">
            <a:avLst>
              <a:gd name="adj" fmla="val 9697"/>
            </a:avLst>
          </a:prstGeom>
          <a:solidFill>
            <a:srgbClr val="F4DDB1"/>
          </a:solidFill>
          <a:ln w="12700">
            <a:solidFill>
              <a:srgbClr val="F4DD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2880360"/>
            <a:ext cx="4809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put money in the bank.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mixes information from other allowed positions.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An embedding represents a token with numbers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work with numbers. An embedding is a list of numbers for a token.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2926080" cy="1005840"/>
          </a:xfrm>
          <a:prstGeom prst="roundRect">
            <a:avLst>
              <a:gd name="adj" fmla="val 14545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88036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977640" y="3246120"/>
            <a:ext cx="731520" cy="0"/>
          </a:xfrm>
          <a:prstGeom prst="line">
            <a:avLst/>
          </a:prstGeom>
          <a:noFill/>
          <a:ln w="25400">
            <a:solidFill>
              <a:srgbClr val="5064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2743200"/>
            <a:ext cx="6309360" cy="1005840"/>
          </a:xfrm>
          <a:prstGeom prst="roundRect">
            <a:avLst>
              <a:gd name="adj" fmla="val 14545"/>
            </a:avLst>
          </a:prstGeom>
          <a:solidFill>
            <a:srgbClr val="F4DDB1"/>
          </a:solidFill>
          <a:ln w="12700">
            <a:solidFill>
              <a:srgbClr val="F4DD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8928" y="2880360"/>
            <a:ext cx="5907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[0.2, -0.5, 0.8, ...]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numbers, not actual learned river features.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= a numerical representation. Position = where the token occurs.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A query is the vector used to look for a match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which information could help update this position?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3108960" cy="1371600"/>
          </a:xfrm>
          <a:prstGeom prst="roundRect">
            <a:avLst>
              <a:gd name="adj" fmla="val 10667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880360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being updated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069080" y="3429000"/>
            <a:ext cx="685800" cy="0"/>
          </a:xfrm>
          <a:prstGeom prst="line">
            <a:avLst/>
          </a:prstGeom>
          <a:noFill/>
          <a:ln w="25400">
            <a:solidFill>
              <a:srgbClr val="5064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83480" y="2743200"/>
            <a:ext cx="6309360" cy="1371600"/>
          </a:xfrm>
          <a:prstGeom prst="roundRect">
            <a:avLst>
              <a:gd name="adj" fmla="val 10667"/>
            </a:avLst>
          </a:prstGeom>
          <a:solidFill>
            <a:srgbClr val="F4DDB1"/>
          </a:solidFill>
          <a:ln w="12700">
            <a:solidFill>
              <a:srgbClr val="F4DD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4648" y="2880360"/>
            <a:ext cx="5907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for matching useful context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help here?" is an analogy, not the actual query vector.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A key is the vector used to be matched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is compared with a key from each available position.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3108960" cy="1920240"/>
          </a:xfrm>
          <a:prstGeom prst="roundRect">
            <a:avLst>
              <a:gd name="adj" fmla="val 7619"/>
            </a:avLst>
          </a:prstGeom>
          <a:solidFill>
            <a:srgbClr val="F4DDB1"/>
          </a:solidFill>
          <a:ln w="12700">
            <a:solidFill>
              <a:srgbClr val="F4DD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880360"/>
            <a:ext cx="2706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from bank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069080" y="3291840"/>
            <a:ext cx="640080" cy="0"/>
          </a:xfrm>
          <a:prstGeom prst="line">
            <a:avLst/>
          </a:prstGeom>
          <a:noFill/>
          <a:ln w="25400">
            <a:solidFill>
              <a:srgbClr val="5064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69080" y="4114800"/>
            <a:ext cx="640080" cy="0"/>
          </a:xfrm>
          <a:prstGeom prst="line">
            <a:avLst/>
          </a:prstGeom>
          <a:noFill/>
          <a:ln w="25400">
            <a:solidFill>
              <a:srgbClr val="5064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37760" y="2670048"/>
            <a:ext cx="6309360" cy="777240"/>
          </a:xfrm>
          <a:prstGeom prst="roundRect">
            <a:avLst>
              <a:gd name="adj" fmla="val 18824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2807208"/>
            <a:ext cx="5907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from river -&gt; matching score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937760" y="3675888"/>
            <a:ext cx="6309360" cy="777240"/>
          </a:xfrm>
          <a:prstGeom prst="roundRect">
            <a:avLst>
              <a:gd name="adj" fmla="val 18824"/>
            </a:avLst>
          </a:prstGeom>
          <a:solidFill>
            <a:srgbClr val="F6DDD2"/>
          </a:solidFill>
          <a:ln w="12700">
            <a:solidFill>
              <a:srgbClr val="F6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3813048"/>
            <a:ext cx="5907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from sat -&gt; matching score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key -&gt; a score. A score is not the information we retrieve.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Attention weights are mixing percentages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become weights. For one query, the weights add up to 100%.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0" y="2880360"/>
            <a:ext cx="5486400" cy="457200"/>
          </a:xfrm>
          <a:prstGeom prst="roundRect">
            <a:avLst>
              <a:gd name="adj" fmla="val 32000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2880360"/>
            <a:ext cx="4389120" cy="457200"/>
          </a:xfrm>
          <a:prstGeom prst="roundRect">
            <a:avLst>
              <a:gd name="adj" fmla="val 32000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74720" y="4023360"/>
            <a:ext cx="5486400" cy="457200"/>
          </a:xfrm>
          <a:prstGeom prst="roundRect">
            <a:avLst>
              <a:gd name="adj" fmla="val 32000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4023360"/>
            <a:ext cx="1097280" cy="457200"/>
          </a:xfrm>
          <a:prstGeom prst="roundRect">
            <a:avLst>
              <a:gd name="adj" fmla="val 32000"/>
            </a:avLst>
          </a:prstGeom>
          <a:solidFill>
            <a:srgbClr val="F6DDD2"/>
          </a:solidFill>
          <a:ln w="12700">
            <a:solidFill>
              <a:srgbClr val="F6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3931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weights: 80% + 20% = 100%. Softmax produces the proportions.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A value is the information being mixed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a blend of value vectors. It is not a new word.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5212080" cy="1097280"/>
          </a:xfrm>
          <a:prstGeom prst="roundRect">
            <a:avLst>
              <a:gd name="adj" fmla="val 13333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8803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[10, 0] = [8, 0]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6263640" y="2743200"/>
            <a:ext cx="5212080" cy="1097280"/>
          </a:xfrm>
          <a:prstGeom prst="roundRect">
            <a:avLst>
              <a:gd name="adj" fmla="val 13333"/>
            </a:avLst>
          </a:prstGeom>
          <a:solidFill>
            <a:srgbClr val="F6DDD2"/>
          </a:solidFill>
          <a:ln w="12700">
            <a:solidFill>
              <a:srgbClr val="F6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28803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[0, 10] = [0, 2]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3108960" y="4297680"/>
            <a:ext cx="5943600" cy="777240"/>
          </a:xfrm>
          <a:prstGeom prst="roundRect">
            <a:avLst>
              <a:gd name="adj" fmla="val 18824"/>
            </a:avLst>
          </a:prstGeom>
          <a:solidFill>
            <a:srgbClr val="F4DDB1"/>
          </a:solidFill>
          <a:ln w="12700">
            <a:solidFill>
              <a:srgbClr val="F4DD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4434840"/>
            <a:ext cx="5541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-&gt; output [8, 2]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matching features. Value = content. Weight = amount. Output = blend.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The model learns the transformations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learns how to create queries, keys and values from representations.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880360"/>
            <a:ext cx="2706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token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069080" y="3355848"/>
            <a:ext cx="548640" cy="0"/>
          </a:xfrm>
          <a:prstGeom prst="line">
            <a:avLst/>
          </a:prstGeom>
          <a:noFill/>
          <a:ln w="25400">
            <a:solidFill>
              <a:srgbClr val="5064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2743200"/>
            <a:ext cx="2743200" cy="1234440"/>
          </a:xfrm>
          <a:prstGeom prst="roundRect">
            <a:avLst>
              <a:gd name="adj" fmla="val 11852"/>
            </a:avLst>
          </a:prstGeom>
          <a:solidFill>
            <a:srgbClr val="F4DDB1"/>
          </a:solidFill>
          <a:ln w="12700">
            <a:solidFill>
              <a:srgbClr val="F4DD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288036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error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35240" y="3355848"/>
            <a:ext cx="548640" cy="0"/>
          </a:xfrm>
          <a:prstGeom prst="line">
            <a:avLst/>
          </a:prstGeom>
          <a:noFill/>
          <a:ln w="25400">
            <a:solidFill>
              <a:srgbClr val="50645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21040" y="2743200"/>
            <a:ext cx="2971800" cy="1234440"/>
          </a:xfrm>
          <a:prstGeom prst="roundRect">
            <a:avLst>
              <a:gd name="adj" fmla="val 11852"/>
            </a:avLst>
          </a:prstGeom>
          <a:solidFill>
            <a:srgbClr val="F6DDD2"/>
          </a:solidFill>
          <a:ln w="12700">
            <a:solidFill>
              <a:srgbClr val="F6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2880360"/>
            <a:ext cx="2569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model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training text: "I drink a cup of ___" -&gt; target: "tea"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learns the rules. A sentence supplies the input to those rules.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A text generator must not peek ahead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reads the same sequence. Causal masking hides future tokens.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834640"/>
            <a:ext cx="2468880" cy="914400"/>
          </a:xfrm>
          <a:prstGeom prst="roundRect">
            <a:avLst>
              <a:gd name="adj" fmla="val 16000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9718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0" y="2834640"/>
            <a:ext cx="2468880" cy="914400"/>
          </a:xfrm>
          <a:prstGeom prst="roundRect">
            <a:avLst>
              <a:gd name="adj" fmla="val 16000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8768" y="29718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6446520" y="2834640"/>
            <a:ext cx="4526280" cy="914400"/>
          </a:xfrm>
          <a:prstGeom prst="roundRect">
            <a:avLst>
              <a:gd name="adj" fmla="val 16000"/>
            </a:avLst>
          </a:prstGeom>
          <a:solidFill>
            <a:srgbClr val="F6DDD2"/>
          </a:solidFill>
          <a:ln w="12700">
            <a:solidFill>
              <a:srgbClr val="F6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297180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&lt;- hidden target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context: "I like"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46520" y="4297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next: "coffee"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= an access rule. Read the available context, not the future answer.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 Encoder reads. Decoder writes.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two roles. An encoder-decoder model connects them.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3383280" cy="1325880"/>
          </a:xfrm>
          <a:prstGeom prst="roundRect">
            <a:avLst>
              <a:gd name="adj" fmla="val 11034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92608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"I love cats"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297680" y="3447288"/>
            <a:ext cx="548640" cy="0"/>
          </a:xfrm>
          <a:prstGeom prst="line">
            <a:avLst/>
          </a:prstGeom>
          <a:noFill/>
          <a:ln w="25400">
            <a:solidFill>
              <a:srgbClr val="5064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0" y="2788920"/>
            <a:ext cx="2103120" cy="1325880"/>
          </a:xfrm>
          <a:prstGeom prst="roundRect">
            <a:avLst>
              <a:gd name="adj" fmla="val 11034"/>
            </a:avLst>
          </a:prstGeom>
          <a:solidFill>
            <a:srgbClr val="F4DDB1"/>
          </a:solidFill>
          <a:ln w="12700">
            <a:solidFill>
              <a:srgbClr val="F4DD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0368" y="2926080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7315200" y="3447288"/>
            <a:ext cx="548640" cy="0"/>
          </a:xfrm>
          <a:prstGeom prst="line">
            <a:avLst/>
          </a:prstGeom>
          <a:noFill/>
          <a:ln w="25400">
            <a:solidFill>
              <a:srgbClr val="50645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46720" y="2788920"/>
            <a:ext cx="3383280" cy="1325880"/>
          </a:xfrm>
          <a:prstGeom prst="roundRect">
            <a:avLst>
              <a:gd name="adj" fmla="val 11034"/>
            </a:avLst>
          </a:prstGeom>
          <a:solidFill>
            <a:srgbClr val="F6DDD2"/>
          </a:solidFill>
          <a:ln w="12700">
            <a:solidFill>
              <a:srgbClr val="F6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292608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"J'aime..."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= the decoder consulting the encoder.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 A Transformer combines a few jobs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shares information. Other components process and preserve it.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2011680" cy="2148840"/>
          </a:xfrm>
          <a:prstGeom prst="roundRect">
            <a:avLst>
              <a:gd name="adj" fmla="val 7273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bites man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026664" y="2788920"/>
            <a:ext cx="2011680" cy="2148840"/>
          </a:xfrm>
          <a:prstGeom prst="roundRect">
            <a:avLst>
              <a:gd name="adj" fmla="val 7273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heads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163824" y="3657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learned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mixtures at once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21808" y="2788920"/>
            <a:ext cx="2011680" cy="2148840"/>
          </a:xfrm>
          <a:prstGeom prst="roundRect">
            <a:avLst>
              <a:gd name="adj" fmla="val 7273"/>
            </a:avLst>
          </a:prstGeom>
          <a:solidFill>
            <a:srgbClr val="F4DDB1"/>
          </a:solidFill>
          <a:ln w="12700">
            <a:solidFill>
              <a:srgbClr val="F4DD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58968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58968" y="3657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features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position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16952" y="2788920"/>
            <a:ext cx="2011680" cy="2148840"/>
          </a:xfrm>
          <a:prstGeom prst="roundRect">
            <a:avLst>
              <a:gd name="adj" fmla="val 7273"/>
            </a:avLst>
          </a:prstGeom>
          <a:solidFill>
            <a:srgbClr val="F6DDD2"/>
          </a:solidFill>
          <a:ln w="12700">
            <a:solidFill>
              <a:srgbClr val="F6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754112" y="3657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+ update: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[2,1] + [0,3]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912096" y="2788920"/>
            <a:ext cx="2011680" cy="2148840"/>
          </a:xfrm>
          <a:prstGeom prst="roundRect">
            <a:avLst>
              <a:gd name="adj" fmla="val 7273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49256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049256" y="3657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features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regulate magnitudes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 updates representations. Stacked blocks repeat the process.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 GPT predicts one more token, then repeats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blocks, a vocabulary projection produces next-token scores.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3063240" cy="1188720"/>
          </a:xfrm>
          <a:prstGeom prst="roundRect">
            <a:avLst>
              <a:gd name="adj" fmla="val 12308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88036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like"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3977640" y="3337560"/>
            <a:ext cx="548640" cy="0"/>
          </a:xfrm>
          <a:prstGeom prst="line">
            <a:avLst/>
          </a:prstGeom>
          <a:noFill/>
          <a:ln w="25400">
            <a:solidFill>
              <a:srgbClr val="5064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2743200"/>
            <a:ext cx="2834640" cy="1188720"/>
          </a:xfrm>
          <a:prstGeom prst="roundRect">
            <a:avLst>
              <a:gd name="adj" fmla="val 12308"/>
            </a:avLst>
          </a:prstGeom>
          <a:solidFill>
            <a:srgbClr val="F4DDB1"/>
          </a:solidFill>
          <a:ln w="12700">
            <a:solidFill>
              <a:srgbClr val="F4DD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288036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Choose: coffee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35240" y="3337560"/>
            <a:ext cx="548640" cy="0"/>
          </a:xfrm>
          <a:prstGeom prst="line">
            <a:avLst/>
          </a:prstGeom>
          <a:noFill/>
          <a:ln w="25400">
            <a:solidFill>
              <a:srgbClr val="50645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21040" y="2743200"/>
            <a:ext cx="3108960" cy="1188720"/>
          </a:xfrm>
          <a:prstGeom prst="roundRect">
            <a:avLst>
              <a:gd name="adj" fmla="val 12308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2880360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like coffee"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predict again: "I like coffee."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76656" y="5532120"/>
            <a:ext cx="10835640" cy="594360"/>
          </a:xfrm>
          <a:prstGeom prst="roundRect">
            <a:avLst>
              <a:gd name="adj" fmla="val 24615"/>
            </a:avLst>
          </a:prstGeom>
          <a:solidFill>
            <a:srgbClr val="E7EBE5"/>
          </a:solidFill>
          <a:ln w="12700">
            <a:solidFill>
              <a:srgbClr val="E7EB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5669280"/>
            <a:ext cx="1043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output is internal information. Token selection happens later.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 The whole idea in three sentences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353312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information. Mix it. Use the result to update a representation.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6400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ENGLISH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6336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0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10652760" cy="685800"/>
          </a:xfrm>
          <a:prstGeom prst="roundRect">
            <a:avLst>
              <a:gd name="adj" fmla="val 21333"/>
            </a:avLst>
          </a:prstGeom>
          <a:solidFill>
            <a:srgbClr val="F4DDB1"/>
          </a:solidFill>
          <a:ln w="12700">
            <a:solidFill>
              <a:srgbClr val="F4DD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834640"/>
            <a:ext cx="10250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query with keys -&gt; matching scores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77240" y="3611880"/>
            <a:ext cx="10652760" cy="685800"/>
          </a:xfrm>
          <a:prstGeom prst="roundRect">
            <a:avLst>
              <a:gd name="adj" fmla="val 21333"/>
            </a:avLst>
          </a:prstGeom>
          <a:solidFill>
            <a:srgbClr val="D2ECDD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749040"/>
            <a:ext cx="10250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values using weights -&gt; a blended vector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777240" y="4526280"/>
            <a:ext cx="10652760" cy="685800"/>
          </a:xfrm>
          <a:prstGeom prst="roundRect">
            <a:avLst>
              <a:gd name="adj" fmla="val 21333"/>
            </a:avLst>
          </a:prstGeom>
          <a:solidFill>
            <a:srgbClr val="F6DDD2"/>
          </a:solidFill>
          <a:ln w="12700">
            <a:solidFill>
              <a:srgbClr val="F6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4663440"/>
            <a:ext cx="10250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1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blocks -&gt; updated representations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Attention, in Plain English</dc:title>
  <dc:subject>Short explanations, tiny examples, and a word-for-word spoken script</dc:subject>
  <dc:creator>Data Science Workshop</dc:creator>
  <cp:lastModifiedBy>Data Science Workshop</cp:lastModifiedBy>
  <cp:revision>1</cp:revision>
  <dcterms:created xsi:type="dcterms:W3CDTF">2026-10-21T11:52:32Z</dcterms:created>
  <dcterms:modified xsi:type="dcterms:W3CDTF">2026-10-21T11:52:32Z</dcterms:modified>
</cp:coreProperties>
</file>