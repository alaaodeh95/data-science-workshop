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minutes]
OPENING: "Today is about intuition, not equations. We will understand how tokens share information, what attention returns, and how a Transformer uses it."
There is no notebook to operate during this presentation. Do not promise a live demo. You can present every concept from these slides.
Road map: first context, then attention, then the Transformer. Tell the team they only need to remember: match, mix, update.
Presenter reminder: you do not need to explain every learned feature. The model learns numeric transformations; our examples are deliberately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SAY: "If I only show you the word bank, you do not know which meaning I intend. Nearby words help."
Read the two sentences. Ask which words are useful: river and deposited money.
The point is not that attention alone solves word sense or that these are actual model outputs. These are conceptual examples.
A token representation is a vector of numbers. Contextualizing it means updating that vector using information from other positions. We are not generating a new word yet.
TRANSITION: "How can a model bring that useful information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SAY: "An LSTM carries and updates memory as it processes tokens. Its gates help retain information. Attention gives each position a direct way to combine information from other allowed positions."
The diagrams show information routes, not measured model weights.
Do not say LSTMs cannot remember. Their sequential dependency is the bridge to today's topic.
In an encoder, positions can usually read both sides. A causal decoder has restrictions that we will show later.
TRANSITION: "That lookup has three ingredients. Their names sound harder than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"Imagine choosing a recipe. Your query is a request: something warm for lunch. A key describes an item so it can be matched: soup, hot, lunch. The value is the actual information retrieved: the recipe content."
Keys and values play different roles. Query and key determine how much; value determines what is contributed.
In real attention all three are numeric vectors, not English descriptions. The analogy explains the roles, not the actual implementation.
Ask: "Which do we compare with the query: the key or the value?" Answer: key.
TRANSITION: "After matching, how do we combine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"The request is compared with the keys. Matching scores become proportions through softmax. Those proportions blend the value vectors."
The weights on this slide are invented for teaching. They are not measured recipe-model output. All three sum to 100 percent.
Read the bars: eighty percent of A's value, ten percent of B, ten percent of C. Attention normally creates a blend, not one hard winner.
Do not call the value itself an attention weight. The weight is the mixing amount; the value is the content being mixed.
Ask participants: "If B's weight increased, whose information would influence the result more?"
TRANSITION: "Let's see what the output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"These are toy values we chose, not real word embeddings. A supplies [10,0], B supplies [0,10], C supplies [5,5]."
Calculate slowly: eighty percent of A is [8,0]. Ten percent of B is [0,1]. Ten percent of C is [0.5,0.5]. Sum them to get [8.5,1.5].
This output is gathered information for the querying position. It is not a generated token and not a replacement value vector.
V stays unchanged during the attention operation. The output goes through the rest of the block. The next layer receives updated representations and calculates its own Q, K and V.
If questions get deep, return to "mix information to update a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"In the first layer, token embeddings plus position information give us the representations. Learned transformations turn those representations into queries, keys, and values."
W_Q, W_K and W_V are learned matrices. Q, K and V are computed vectors. A key is not the same thing as the learned key matrix, and attention weights are yet another object: computed from Q and K.
The model learns its matrices during training: predict, measure error, update weights, repeat. During today's pretrained inference, those learned matrices are fixed, but Q/K/V depend on the input.
Later layers use the previous layer's contextual representations, not the original embedding again.
Do not teach the matrix multiplications now. Just point to the three learned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"In self-attention, queries, keys and values come from the same sequence. Each row in these pictures is the position asking; columns are the positions available to read."
Point to the second row, love. An encoder can read I, love, learning and today. A causal decoder at love can only read I and love.
The diagonal is allowed because that position predicts the following token. At love, the target is learning, not love.
The model sets future attention scores to negative infinity before softmax, so their weights become zero. Gray squares mean not allowed, not merely small weights.
These are access diagrams, not measured attention heatmaps.
TRANSITION: "Now package this mechanism into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SAY: "Attention is the information-sharing operation. A Transformer is the larger architecture."
Walk through the cards. Position tells the model about order. Multi-head attention combines multiple learned views. The feed-forward network transforms features at each position. Residual connections add an existing representation to an update; normalization helps regulate feature scales.
Stacking blocks repeats these operations with different learned weights. The attention output is processed by the rest of its block before the next layer makes fresh Q/K/V.
No equations needed. Heads are not manually assigned grammar roles.
The cards describe roles, not an exact sequential ordering. Pre-norm and post-norm architectures arrange normalization differently.
TRANSITION: "How are the blocks arranged to read or generate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SAY: "The encoder builds representations of an input, such as a sentence to translate. The decoder generates output tokens."
Follow the left column down. Follow the right column down. The sideways arrow supplies encoder information to decoder cross-attention. The decoder's queries consult encoder keys and values.
Encoder-only: BERT-like representations. Decoder-only: GPT-like generation, without a separate encoder or encoder cross-attention. Encoder-decoder: translation and similar input-to-output tasks.
Explain roles only. This slide omits Add &amp; Norm and repeated blocks intentionally. If asked, those are the components from the previous slide.
Do not imply all encoders use recurrent bottlenecks or that GPT has a separate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SAY: "Attention itself does not output a word. After all the blocks, a vocabulary projection creates scores. Softmax turns those scores into probabilities. A decoding rule chooses a token."
All probabilities here are illustrative. They do not come from a real model run. Coffee has forty percent, tea twenty-five percent, the remaining vocabulary together thirty-five percent.
Choose coffee, append it to I like, then predict another token using I like coffee. It is a token, not necessarily a whole word.
Training can process many known positions in parallel. Generating new text still proceeds token by token.
Fluent text is not a guarantee of factual accuracy. Do not promise the capital-of-France example will answer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Spend the last three minutes on recap and questions.
SAY: "Attention matches queries with keys, then mixes values. Its output is a contextual vector, not a word. A Transformer organizes that operation into blocks that can support input representations or text generation."
Ask the room: "What is mixed, keys or values?" Values.
"Does the attention output directly become a generated word?" No.
"Why hide future tokens?" To prevent looking at the target while predicting it.
If someone asks how vectors get meaning, say training learns transformations useful for reducing prediction error; dimensions do not necessarily have human-readable labels.
If someone asks what the next layer receives, say updated token representations after the entire preceding block, not a raw new V.
Optional further reading after class: Attention Is All You Need, https://arxiv.org/abs/1706.03762 ; The Illustrated Transformer, https://jalammar.github.io/illustrated-transformer/ . All slide illustrations are original; numerical examples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E30"/>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Attention &amp; Transformers</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C9F0DC"/>
                </a:solidFill>
                <a:latin typeface="Calibri" pitchFamily="34" charset="0"/>
                <a:ea typeface="Calibri" pitchFamily="34" charset="-122"/>
                <a:cs typeface="Calibri" pitchFamily="34" charset="-120"/>
              </a:rPr>
              <a:t>The simple version. One idea at a time. No coding required.</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C9F0DC"/>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C9F0DC"/>
                </a:solidFill>
                <a:latin typeface="Calibri" pitchFamily="34" charset="0"/>
                <a:ea typeface="Calibri" pitchFamily="34" charset="-122"/>
                <a:cs typeface="Calibri" pitchFamily="34" charset="-120"/>
              </a:rPr>
              <a:t>1 / 12   |   1 min</a:t>
            </a:r>
            <a:endParaRPr lang="en-US" sz="1400" dirty="0"/>
          </a:p>
        </p:txBody>
      </p:sp>
      <p:sp>
        <p:nvSpPr>
          <p:cNvPr id="7" name="Text 4"/>
          <p:cNvSpPr/>
          <p:nvPr/>
        </p:nvSpPr>
        <p:spPr>
          <a:xfrm>
            <a:off x="731520" y="2423160"/>
            <a:ext cx="2834640" cy="731520"/>
          </a:xfrm>
          <a:prstGeom prst="rect">
            <a:avLst/>
          </a:prstGeom>
          <a:noFill/>
          <a:ln/>
        </p:spPr>
        <p:txBody>
          <a:bodyPr wrap="square" lIns="0" tIns="0" rIns="0" bIns="0" rtlCol="0" anchor="ctr"/>
          <a:lstStyle/>
          <a:p>
            <a:pPr indent="0" marL="0">
              <a:buNone/>
            </a:pPr>
            <a:r>
              <a:rPr lang="en-US" sz="4400" b="1" dirty="0">
                <a:solidFill>
                  <a:srgbClr val="C9F0DC"/>
                </a:solidFill>
                <a:latin typeface="Calibri" pitchFamily="34" charset="0"/>
                <a:ea typeface="Calibri" pitchFamily="34" charset="-122"/>
                <a:cs typeface="Calibri" pitchFamily="34" charset="-120"/>
              </a:rPr>
              <a:t>MATCH</a:t>
            </a:r>
            <a:endParaRPr lang="en-US" sz="4400" dirty="0"/>
          </a:p>
        </p:txBody>
      </p:sp>
      <p:sp>
        <p:nvSpPr>
          <p:cNvPr id="8" name="Text 5"/>
          <p:cNvSpPr/>
          <p:nvPr/>
        </p:nvSpPr>
        <p:spPr>
          <a:xfrm>
            <a:off x="4709160" y="2423160"/>
            <a:ext cx="2103120" cy="731520"/>
          </a:xfrm>
          <a:prstGeom prst="rect">
            <a:avLst/>
          </a:prstGeom>
          <a:noFill/>
          <a:ln/>
        </p:spPr>
        <p:txBody>
          <a:bodyPr wrap="square" lIns="0" tIns="0" rIns="0" bIns="0" rtlCol="0" anchor="ctr"/>
          <a:lstStyle/>
          <a:p>
            <a:pPr indent="0" marL="0">
              <a:buNone/>
            </a:pPr>
            <a:r>
              <a:rPr lang="en-US" sz="4400" b="1" dirty="0">
                <a:solidFill>
                  <a:srgbClr val="F5D98B"/>
                </a:solidFill>
                <a:latin typeface="Calibri" pitchFamily="34" charset="0"/>
                <a:ea typeface="Calibri" pitchFamily="34" charset="-122"/>
                <a:cs typeface="Calibri" pitchFamily="34" charset="-120"/>
              </a:rPr>
              <a:t>MIX</a:t>
            </a:r>
            <a:endParaRPr lang="en-US" sz="4400" dirty="0"/>
          </a:p>
        </p:txBody>
      </p:sp>
      <p:sp>
        <p:nvSpPr>
          <p:cNvPr id="9" name="Text 6"/>
          <p:cNvSpPr/>
          <p:nvPr/>
        </p:nvSpPr>
        <p:spPr>
          <a:xfrm>
            <a:off x="8275320" y="2423160"/>
            <a:ext cx="3200400" cy="731520"/>
          </a:xfrm>
          <a:prstGeom prst="rect">
            <a:avLst/>
          </a:prstGeom>
          <a:noFill/>
          <a:ln/>
        </p:spPr>
        <p:txBody>
          <a:bodyPr wrap="square" lIns="0" tIns="0" rIns="0" bIns="0" rtlCol="0" anchor="ctr"/>
          <a:lstStyle/>
          <a:p>
            <a:pPr indent="0" marL="0">
              <a:buNone/>
            </a:pPr>
            <a:r>
              <a:rPr lang="en-US" sz="4400" b="1" dirty="0">
                <a:solidFill>
                  <a:srgbClr val="F5B39A"/>
                </a:solidFill>
                <a:latin typeface="Calibri" pitchFamily="34" charset="0"/>
                <a:ea typeface="Calibri" pitchFamily="34" charset="-122"/>
                <a:cs typeface="Calibri" pitchFamily="34" charset="-120"/>
              </a:rPr>
              <a:t>UPDATE</a:t>
            </a:r>
            <a:endParaRPr lang="en-US" sz="4400" dirty="0"/>
          </a:p>
        </p:txBody>
      </p:sp>
      <p:sp>
        <p:nvSpPr>
          <p:cNvPr id="10" name="Shape 7"/>
          <p:cNvSpPr/>
          <p:nvPr/>
        </p:nvSpPr>
        <p:spPr>
          <a:xfrm>
            <a:off x="3337560" y="2798064"/>
            <a:ext cx="914400" cy="0"/>
          </a:xfrm>
          <a:prstGeom prst="line">
            <a:avLst/>
          </a:prstGeom>
          <a:noFill/>
          <a:ln w="25400">
            <a:solidFill>
              <a:srgbClr val="FFFFFF"/>
            </a:solidFill>
            <a:prstDash val="solid"/>
            <a:headEnd type="none"/>
            <a:tailEnd type="triangle"/>
          </a:ln>
        </p:spPr>
      </p:sp>
      <p:sp>
        <p:nvSpPr>
          <p:cNvPr id="11" name="Shape 8"/>
          <p:cNvSpPr/>
          <p:nvPr/>
        </p:nvSpPr>
        <p:spPr>
          <a:xfrm>
            <a:off x="6903720" y="2798064"/>
            <a:ext cx="914400" cy="0"/>
          </a:xfrm>
          <a:prstGeom prst="line">
            <a:avLst/>
          </a:prstGeom>
          <a:noFill/>
          <a:ln w="25400">
            <a:solidFill>
              <a:srgbClr val="FFFFFF"/>
            </a:solidFill>
            <a:prstDash val="solid"/>
            <a:headEnd type="none"/>
            <a:tailEnd type="triangle"/>
          </a:ln>
        </p:spPr>
      </p:sp>
      <p:sp>
        <p:nvSpPr>
          <p:cNvPr id="12" name="Text 9"/>
          <p:cNvSpPr/>
          <p:nvPr/>
        </p:nvSpPr>
        <p:spPr>
          <a:xfrm>
            <a:off x="777240" y="3364992"/>
            <a:ext cx="3108960" cy="82296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Find useful information</a:t>
            </a:r>
            <a:endParaRPr lang="en-US" sz="2400" dirty="0"/>
          </a:p>
        </p:txBody>
      </p:sp>
      <p:sp>
        <p:nvSpPr>
          <p:cNvPr id="13" name="Text 10"/>
          <p:cNvSpPr/>
          <p:nvPr/>
        </p:nvSpPr>
        <p:spPr>
          <a:xfrm>
            <a:off x="4617720" y="3364992"/>
            <a:ext cx="2971800" cy="82296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Blend what you found</a:t>
            </a:r>
            <a:endParaRPr lang="en-US" sz="2400" dirty="0"/>
          </a:p>
        </p:txBody>
      </p:sp>
      <p:sp>
        <p:nvSpPr>
          <p:cNvPr id="14" name="Text 11"/>
          <p:cNvSpPr/>
          <p:nvPr/>
        </p:nvSpPr>
        <p:spPr>
          <a:xfrm>
            <a:off x="8229600" y="3364992"/>
            <a:ext cx="3200400" cy="91440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Build a better representation</a:t>
            </a:r>
            <a:endParaRPr lang="en-US" sz="2400" dirty="0"/>
          </a:p>
        </p:txBody>
      </p:sp>
      <p:sp>
        <p:nvSpPr>
          <p:cNvPr id="15" name="Text 12"/>
          <p:cNvSpPr/>
          <p:nvPr/>
        </p:nvSpPr>
        <p:spPr>
          <a:xfrm>
            <a:off x="777240" y="4937760"/>
            <a:ext cx="9875520" cy="457200"/>
          </a:xfrm>
          <a:prstGeom prst="rect">
            <a:avLst/>
          </a:prstGeom>
          <a:noFill/>
          <a:ln/>
        </p:spPr>
        <p:txBody>
          <a:bodyPr wrap="square" lIns="0" tIns="0" rIns="0" bIns="0" rtlCol="0" anchor="ctr"/>
          <a:lstStyle/>
          <a:p>
            <a:pPr indent="0" marL="0">
              <a:buNone/>
            </a:pPr>
            <a:r>
              <a:rPr lang="en-US" sz="2300" dirty="0">
                <a:solidFill>
                  <a:srgbClr val="C9F0DC"/>
                </a:solidFill>
                <a:latin typeface="Calibri" pitchFamily="34" charset="0"/>
                <a:ea typeface="Calibri" pitchFamily="34" charset="-122"/>
                <a:cs typeface="Calibri" pitchFamily="34" charset="-120"/>
              </a:rPr>
              <a:t>30 minutes  /  beginner-friendly</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Words need context</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The same word can need different information.</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2 / 12   |   2 min</a:t>
            </a:r>
            <a:endParaRPr lang="en-US" sz="1400" dirty="0"/>
          </a:p>
        </p:txBody>
      </p:sp>
      <p:sp>
        <p:nvSpPr>
          <p:cNvPr id="7" name="Shape 4"/>
          <p:cNvSpPr/>
          <p:nvPr/>
        </p:nvSpPr>
        <p:spPr>
          <a:xfrm>
            <a:off x="640080" y="2029968"/>
            <a:ext cx="5257800" cy="2514600"/>
          </a:xfrm>
          <a:prstGeom prst="roundRect">
            <a:avLst>
              <a:gd name="adj" fmla="val 5091"/>
            </a:avLst>
          </a:prstGeom>
          <a:solidFill>
            <a:srgbClr val="C9F0DC"/>
          </a:solidFill>
          <a:ln w="13970">
            <a:solidFill>
              <a:srgbClr val="C9F0DC"/>
            </a:solidFill>
            <a:prstDash val="solid"/>
          </a:ln>
        </p:spPr>
      </p:sp>
      <p:sp>
        <p:nvSpPr>
          <p:cNvPr id="8" name="Text 5"/>
          <p:cNvSpPr/>
          <p:nvPr/>
        </p:nvSpPr>
        <p:spPr>
          <a:xfrm>
            <a:off x="850392" y="2176272"/>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river bank</a:t>
            </a:r>
            <a:endParaRPr lang="en-US" sz="2700" dirty="0"/>
          </a:p>
        </p:txBody>
      </p:sp>
      <p:sp>
        <p:nvSpPr>
          <p:cNvPr id="9" name="Text 6"/>
          <p:cNvSpPr/>
          <p:nvPr/>
        </p:nvSpPr>
        <p:spPr>
          <a:xfrm>
            <a:off x="850392" y="2779776"/>
            <a:ext cx="4837176" cy="160020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We sat on the bank</a:t>
            </a: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beside the river.</a:t>
            </a:r>
            <a:endParaRPr lang="en-US" sz="2300" dirty="0"/>
          </a:p>
        </p:txBody>
      </p:sp>
      <p:sp>
        <p:nvSpPr>
          <p:cNvPr id="10" name="Shape 7"/>
          <p:cNvSpPr/>
          <p:nvPr/>
        </p:nvSpPr>
        <p:spPr>
          <a:xfrm>
            <a:off x="6263640" y="2029968"/>
            <a:ext cx="5257800" cy="2514600"/>
          </a:xfrm>
          <a:prstGeom prst="roundRect">
            <a:avLst>
              <a:gd name="adj" fmla="val 5091"/>
            </a:avLst>
          </a:prstGeom>
          <a:solidFill>
            <a:srgbClr val="FCE4D9"/>
          </a:solidFill>
          <a:ln w="13970">
            <a:solidFill>
              <a:srgbClr val="FCE4D9"/>
            </a:solidFill>
            <a:prstDash val="solid"/>
          </a:ln>
        </p:spPr>
      </p:sp>
      <p:sp>
        <p:nvSpPr>
          <p:cNvPr id="11" name="Text 8"/>
          <p:cNvSpPr/>
          <p:nvPr/>
        </p:nvSpPr>
        <p:spPr>
          <a:xfrm>
            <a:off x="6473952" y="2176272"/>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money bank</a:t>
            </a:r>
            <a:endParaRPr lang="en-US" sz="2700" dirty="0"/>
          </a:p>
        </p:txBody>
      </p:sp>
      <p:sp>
        <p:nvSpPr>
          <p:cNvPr id="12" name="Text 9"/>
          <p:cNvSpPr/>
          <p:nvPr/>
        </p:nvSpPr>
        <p:spPr>
          <a:xfrm>
            <a:off x="6473952" y="2779776"/>
            <a:ext cx="4837176" cy="160020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I deposited money</a:t>
            </a: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at the bank.</a:t>
            </a:r>
            <a:endParaRPr lang="en-US" sz="2300" dirty="0"/>
          </a:p>
        </p:txBody>
      </p:sp>
      <p:sp>
        <p:nvSpPr>
          <p:cNvPr id="13" name="Shape 10"/>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14" name="Text 11"/>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Same token, different context -&gt; a different useful representation.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From carrying memory to reading context</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LSTMs pass a state along. Attention creates direct information lookups.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3 / 12   |   2 min</a:t>
            </a:r>
            <a:endParaRPr lang="en-US" sz="1400" dirty="0"/>
          </a:p>
        </p:txBody>
      </p:sp>
      <p:sp>
        <p:nvSpPr>
          <p:cNvPr id="7" name="Text 4"/>
          <p:cNvSpPr/>
          <p:nvPr/>
        </p:nvSpPr>
        <p:spPr>
          <a:xfrm>
            <a:off x="777240" y="1874520"/>
            <a:ext cx="10515600" cy="457200"/>
          </a:xfrm>
          <a:prstGeom prst="rect">
            <a:avLst/>
          </a:prstGeom>
          <a:noFill/>
          <a:ln/>
        </p:spPr>
        <p:txBody>
          <a:bodyPr wrap="square" lIns="0" tIns="0" rIns="0" bIns="0" rtlCol="0" anchor="ctr"/>
          <a:lstStyle/>
          <a:p>
            <a:pPr indent="0" marL="0">
              <a:buNone/>
            </a:pPr>
            <a:r>
              <a:rPr lang="en-US" sz="2500" b="1" dirty="0">
                <a:solidFill>
                  <a:srgbClr val="243536"/>
                </a:solidFill>
                <a:latin typeface="Calibri" pitchFamily="34" charset="0"/>
                <a:ea typeface="Calibri" pitchFamily="34" charset="-122"/>
                <a:cs typeface="Calibri" pitchFamily="34" charset="-120"/>
              </a:rPr>
              <a:t>LSTM: a chain of recurrent updates</a:t>
            </a:r>
            <a:endParaRPr lang="en-US" sz="2500" dirty="0"/>
          </a:p>
        </p:txBody>
      </p:sp>
      <p:sp>
        <p:nvSpPr>
          <p:cNvPr id="8" name="Shape 5"/>
          <p:cNvSpPr/>
          <p:nvPr/>
        </p:nvSpPr>
        <p:spPr>
          <a:xfrm>
            <a:off x="822960" y="2560320"/>
            <a:ext cx="1965960" cy="731520"/>
          </a:xfrm>
          <a:prstGeom prst="roundRect">
            <a:avLst>
              <a:gd name="adj" fmla="val 17500"/>
            </a:avLst>
          </a:prstGeom>
          <a:solidFill>
            <a:srgbClr val="E4EAE7"/>
          </a:solidFill>
          <a:ln w="13970">
            <a:solidFill>
              <a:srgbClr val="E4EAE7"/>
            </a:solidFill>
            <a:prstDash val="solid"/>
          </a:ln>
        </p:spPr>
      </p:sp>
      <p:sp>
        <p:nvSpPr>
          <p:cNvPr id="9" name="Text 6"/>
          <p:cNvSpPr/>
          <p:nvPr/>
        </p:nvSpPr>
        <p:spPr>
          <a:xfrm>
            <a:off x="987552" y="2724912"/>
            <a:ext cx="1645920" cy="365760"/>
          </a:xfrm>
          <a:prstGeom prst="rect">
            <a:avLst/>
          </a:prstGeom>
          <a:noFill/>
          <a:ln/>
        </p:spPr>
        <p:txBody>
          <a:bodyPr wrap="square" lIns="0" tIns="0" rIns="0" bIns="0" rtlCol="0" anchor="ctr"/>
          <a:lstStyle/>
          <a:p>
            <a:pPr indent="0" marL="0">
              <a:buNone/>
            </a:pPr>
            <a:r>
              <a:rPr lang="en-US" sz="2400" dirty="0">
                <a:solidFill>
                  <a:srgbClr val="243536"/>
                </a:solidFill>
                <a:latin typeface="Calibri" pitchFamily="34" charset="0"/>
                <a:ea typeface="Calibri" pitchFamily="34" charset="-122"/>
                <a:cs typeface="Calibri" pitchFamily="34" charset="-120"/>
              </a:rPr>
              <a:t>Token 1</a:t>
            </a:r>
            <a:endParaRPr lang="en-US" sz="2400" dirty="0"/>
          </a:p>
        </p:txBody>
      </p:sp>
      <p:sp>
        <p:nvSpPr>
          <p:cNvPr id="10" name="Shape 7"/>
          <p:cNvSpPr/>
          <p:nvPr/>
        </p:nvSpPr>
        <p:spPr>
          <a:xfrm>
            <a:off x="2816352" y="2926080"/>
            <a:ext cx="704088" cy="0"/>
          </a:xfrm>
          <a:prstGeom prst="line">
            <a:avLst/>
          </a:prstGeom>
          <a:noFill/>
          <a:ln w="25400">
            <a:solidFill>
              <a:srgbClr val="526668"/>
            </a:solidFill>
            <a:prstDash val="solid"/>
            <a:headEnd type="none"/>
            <a:tailEnd type="triangle"/>
          </a:ln>
        </p:spPr>
      </p:sp>
      <p:sp>
        <p:nvSpPr>
          <p:cNvPr id="11" name="Shape 8"/>
          <p:cNvSpPr/>
          <p:nvPr/>
        </p:nvSpPr>
        <p:spPr>
          <a:xfrm>
            <a:off x="3675888" y="2560320"/>
            <a:ext cx="1965960" cy="731520"/>
          </a:xfrm>
          <a:prstGeom prst="roundRect">
            <a:avLst>
              <a:gd name="adj" fmla="val 17500"/>
            </a:avLst>
          </a:prstGeom>
          <a:solidFill>
            <a:srgbClr val="E4EAE7"/>
          </a:solidFill>
          <a:ln w="13970">
            <a:solidFill>
              <a:srgbClr val="E4EAE7"/>
            </a:solidFill>
            <a:prstDash val="solid"/>
          </a:ln>
        </p:spPr>
      </p:sp>
      <p:sp>
        <p:nvSpPr>
          <p:cNvPr id="12" name="Text 9"/>
          <p:cNvSpPr/>
          <p:nvPr/>
        </p:nvSpPr>
        <p:spPr>
          <a:xfrm>
            <a:off x="3840480" y="2724912"/>
            <a:ext cx="1645920" cy="365760"/>
          </a:xfrm>
          <a:prstGeom prst="rect">
            <a:avLst/>
          </a:prstGeom>
          <a:noFill/>
          <a:ln/>
        </p:spPr>
        <p:txBody>
          <a:bodyPr wrap="square" lIns="0" tIns="0" rIns="0" bIns="0" rtlCol="0" anchor="ctr"/>
          <a:lstStyle/>
          <a:p>
            <a:pPr indent="0" marL="0">
              <a:buNone/>
            </a:pPr>
            <a:r>
              <a:rPr lang="en-US" sz="2400" dirty="0">
                <a:solidFill>
                  <a:srgbClr val="243536"/>
                </a:solidFill>
                <a:latin typeface="Calibri" pitchFamily="34" charset="0"/>
                <a:ea typeface="Calibri" pitchFamily="34" charset="-122"/>
                <a:cs typeface="Calibri" pitchFamily="34" charset="-120"/>
              </a:rPr>
              <a:t>Token 2</a:t>
            </a:r>
            <a:endParaRPr lang="en-US" sz="2400" dirty="0"/>
          </a:p>
        </p:txBody>
      </p:sp>
      <p:sp>
        <p:nvSpPr>
          <p:cNvPr id="13" name="Shape 10"/>
          <p:cNvSpPr/>
          <p:nvPr/>
        </p:nvSpPr>
        <p:spPr>
          <a:xfrm>
            <a:off x="5669280" y="2926080"/>
            <a:ext cx="704088" cy="0"/>
          </a:xfrm>
          <a:prstGeom prst="line">
            <a:avLst/>
          </a:prstGeom>
          <a:noFill/>
          <a:ln w="25400">
            <a:solidFill>
              <a:srgbClr val="526668"/>
            </a:solidFill>
            <a:prstDash val="solid"/>
            <a:headEnd type="none"/>
            <a:tailEnd type="triangle"/>
          </a:ln>
        </p:spPr>
      </p:sp>
      <p:sp>
        <p:nvSpPr>
          <p:cNvPr id="14" name="Shape 11"/>
          <p:cNvSpPr/>
          <p:nvPr/>
        </p:nvSpPr>
        <p:spPr>
          <a:xfrm>
            <a:off x="6528816" y="2560320"/>
            <a:ext cx="1965960" cy="731520"/>
          </a:xfrm>
          <a:prstGeom prst="roundRect">
            <a:avLst>
              <a:gd name="adj" fmla="val 17500"/>
            </a:avLst>
          </a:prstGeom>
          <a:solidFill>
            <a:srgbClr val="E4EAE7"/>
          </a:solidFill>
          <a:ln w="13970">
            <a:solidFill>
              <a:srgbClr val="E4EAE7"/>
            </a:solidFill>
            <a:prstDash val="solid"/>
          </a:ln>
        </p:spPr>
      </p:sp>
      <p:sp>
        <p:nvSpPr>
          <p:cNvPr id="15" name="Text 12"/>
          <p:cNvSpPr/>
          <p:nvPr/>
        </p:nvSpPr>
        <p:spPr>
          <a:xfrm>
            <a:off x="6693408" y="2724912"/>
            <a:ext cx="1645920" cy="365760"/>
          </a:xfrm>
          <a:prstGeom prst="rect">
            <a:avLst/>
          </a:prstGeom>
          <a:noFill/>
          <a:ln/>
        </p:spPr>
        <p:txBody>
          <a:bodyPr wrap="square" lIns="0" tIns="0" rIns="0" bIns="0" rtlCol="0" anchor="ctr"/>
          <a:lstStyle/>
          <a:p>
            <a:pPr indent="0" marL="0">
              <a:buNone/>
            </a:pPr>
            <a:r>
              <a:rPr lang="en-US" sz="2400" dirty="0">
                <a:solidFill>
                  <a:srgbClr val="243536"/>
                </a:solidFill>
                <a:latin typeface="Calibri" pitchFamily="34" charset="0"/>
                <a:ea typeface="Calibri" pitchFamily="34" charset="-122"/>
                <a:cs typeface="Calibri" pitchFamily="34" charset="-120"/>
              </a:rPr>
              <a:t>Token 3</a:t>
            </a:r>
            <a:endParaRPr lang="en-US" sz="2400" dirty="0"/>
          </a:p>
        </p:txBody>
      </p:sp>
      <p:sp>
        <p:nvSpPr>
          <p:cNvPr id="16" name="Shape 13"/>
          <p:cNvSpPr/>
          <p:nvPr/>
        </p:nvSpPr>
        <p:spPr>
          <a:xfrm>
            <a:off x="8522208" y="2926080"/>
            <a:ext cx="704088" cy="0"/>
          </a:xfrm>
          <a:prstGeom prst="line">
            <a:avLst/>
          </a:prstGeom>
          <a:noFill/>
          <a:ln w="25400">
            <a:solidFill>
              <a:srgbClr val="526668"/>
            </a:solidFill>
            <a:prstDash val="solid"/>
            <a:headEnd type="none"/>
            <a:tailEnd type="triangle"/>
          </a:ln>
        </p:spPr>
      </p:sp>
      <p:sp>
        <p:nvSpPr>
          <p:cNvPr id="17" name="Shape 14"/>
          <p:cNvSpPr/>
          <p:nvPr/>
        </p:nvSpPr>
        <p:spPr>
          <a:xfrm>
            <a:off x="9381744" y="2560320"/>
            <a:ext cx="1965960" cy="731520"/>
          </a:xfrm>
          <a:prstGeom prst="roundRect">
            <a:avLst>
              <a:gd name="adj" fmla="val 17500"/>
            </a:avLst>
          </a:prstGeom>
          <a:solidFill>
            <a:srgbClr val="E4EAE7"/>
          </a:solidFill>
          <a:ln w="13970">
            <a:solidFill>
              <a:srgbClr val="E4EAE7"/>
            </a:solidFill>
            <a:prstDash val="solid"/>
          </a:ln>
        </p:spPr>
      </p:sp>
      <p:sp>
        <p:nvSpPr>
          <p:cNvPr id="18" name="Text 15"/>
          <p:cNvSpPr/>
          <p:nvPr/>
        </p:nvSpPr>
        <p:spPr>
          <a:xfrm>
            <a:off x="9546336" y="2724912"/>
            <a:ext cx="1645920" cy="365760"/>
          </a:xfrm>
          <a:prstGeom prst="rect">
            <a:avLst/>
          </a:prstGeom>
          <a:noFill/>
          <a:ln/>
        </p:spPr>
        <p:txBody>
          <a:bodyPr wrap="square" lIns="0" tIns="0" rIns="0" bIns="0" rtlCol="0" anchor="ctr"/>
          <a:lstStyle/>
          <a:p>
            <a:pPr indent="0" marL="0">
              <a:buNone/>
            </a:pPr>
            <a:r>
              <a:rPr lang="en-US" sz="2400" dirty="0">
                <a:solidFill>
                  <a:srgbClr val="243536"/>
                </a:solidFill>
                <a:latin typeface="Calibri" pitchFamily="34" charset="0"/>
                <a:ea typeface="Calibri" pitchFamily="34" charset="-122"/>
                <a:cs typeface="Calibri" pitchFamily="34" charset="-120"/>
              </a:rPr>
              <a:t>Token 4</a:t>
            </a:r>
            <a:endParaRPr lang="en-US" sz="2400" dirty="0"/>
          </a:p>
        </p:txBody>
      </p:sp>
      <p:sp>
        <p:nvSpPr>
          <p:cNvPr id="19" name="Text 16"/>
          <p:cNvSpPr/>
          <p:nvPr/>
        </p:nvSpPr>
        <p:spPr>
          <a:xfrm>
            <a:off x="777240" y="3703320"/>
            <a:ext cx="10515600" cy="457200"/>
          </a:xfrm>
          <a:prstGeom prst="rect">
            <a:avLst/>
          </a:prstGeom>
          <a:noFill/>
          <a:ln/>
        </p:spPr>
        <p:txBody>
          <a:bodyPr wrap="square" lIns="0" tIns="0" rIns="0" bIns="0" rtlCol="0" anchor="ctr"/>
          <a:lstStyle/>
          <a:p>
            <a:pPr indent="0" marL="0">
              <a:buNone/>
            </a:pPr>
            <a:r>
              <a:rPr lang="en-US" sz="2500" b="1" dirty="0">
                <a:solidFill>
                  <a:srgbClr val="243536"/>
                </a:solidFill>
                <a:latin typeface="Calibri" pitchFamily="34" charset="0"/>
                <a:ea typeface="Calibri" pitchFamily="34" charset="-122"/>
                <a:cs typeface="Calibri" pitchFamily="34" charset="-120"/>
              </a:rPr>
              <a:t>Attention: read useful positions directly</a:t>
            </a:r>
            <a:endParaRPr lang="en-US" sz="2500" dirty="0"/>
          </a:p>
        </p:txBody>
      </p:sp>
      <p:sp>
        <p:nvSpPr>
          <p:cNvPr id="20" name="Shape 17"/>
          <p:cNvSpPr/>
          <p:nvPr/>
        </p:nvSpPr>
        <p:spPr>
          <a:xfrm>
            <a:off x="822960" y="4709160"/>
            <a:ext cx="1965960" cy="640080"/>
          </a:xfrm>
          <a:prstGeom prst="roundRect">
            <a:avLst>
              <a:gd name="adj" fmla="val 20000"/>
            </a:avLst>
          </a:prstGeom>
          <a:solidFill>
            <a:srgbClr val="C9F0DC"/>
          </a:solidFill>
          <a:ln w="13970">
            <a:solidFill>
              <a:srgbClr val="C9F0DC"/>
            </a:solidFill>
            <a:prstDash val="solid"/>
          </a:ln>
        </p:spPr>
      </p:sp>
      <p:sp>
        <p:nvSpPr>
          <p:cNvPr id="21" name="Text 18"/>
          <p:cNvSpPr/>
          <p:nvPr/>
        </p:nvSpPr>
        <p:spPr>
          <a:xfrm>
            <a:off x="950976" y="4855464"/>
            <a:ext cx="1737360" cy="320040"/>
          </a:xfrm>
          <a:prstGeom prst="rect">
            <a:avLst/>
          </a:prstGeom>
          <a:noFill/>
          <a:ln/>
        </p:spPr>
        <p:txBody>
          <a:bodyPr wrap="square" lIns="0" tIns="0" rIns="0" bIns="0" rtlCol="0" anchor="ctr"/>
          <a:lstStyle/>
          <a:p>
            <a:pPr indent="0" marL="0">
              <a:buNone/>
            </a:pPr>
            <a:r>
              <a:rPr lang="en-US" sz="2100" dirty="0">
                <a:solidFill>
                  <a:srgbClr val="243536"/>
                </a:solidFill>
                <a:latin typeface="Calibri" pitchFamily="34" charset="0"/>
                <a:ea typeface="Calibri" pitchFamily="34" charset="-122"/>
                <a:cs typeface="Calibri" pitchFamily="34" charset="-120"/>
              </a:rPr>
              <a:t>Position A</a:t>
            </a:r>
            <a:endParaRPr lang="en-US" sz="2100" dirty="0"/>
          </a:p>
        </p:txBody>
      </p:sp>
      <p:sp>
        <p:nvSpPr>
          <p:cNvPr id="22" name="Shape 19"/>
          <p:cNvSpPr/>
          <p:nvPr/>
        </p:nvSpPr>
        <p:spPr>
          <a:xfrm>
            <a:off x="3657600" y="4709160"/>
            <a:ext cx="1965960" cy="640080"/>
          </a:xfrm>
          <a:prstGeom prst="roundRect">
            <a:avLst>
              <a:gd name="adj" fmla="val 20000"/>
            </a:avLst>
          </a:prstGeom>
          <a:solidFill>
            <a:srgbClr val="C9F0DC"/>
          </a:solidFill>
          <a:ln w="13970">
            <a:solidFill>
              <a:srgbClr val="C9F0DC"/>
            </a:solidFill>
            <a:prstDash val="solid"/>
          </a:ln>
        </p:spPr>
      </p:sp>
      <p:sp>
        <p:nvSpPr>
          <p:cNvPr id="23" name="Text 20"/>
          <p:cNvSpPr/>
          <p:nvPr/>
        </p:nvSpPr>
        <p:spPr>
          <a:xfrm>
            <a:off x="3785616" y="4855464"/>
            <a:ext cx="1737360" cy="320040"/>
          </a:xfrm>
          <a:prstGeom prst="rect">
            <a:avLst/>
          </a:prstGeom>
          <a:noFill/>
          <a:ln/>
        </p:spPr>
        <p:txBody>
          <a:bodyPr wrap="square" lIns="0" tIns="0" rIns="0" bIns="0" rtlCol="0" anchor="ctr"/>
          <a:lstStyle/>
          <a:p>
            <a:pPr indent="0" marL="0">
              <a:buNone/>
            </a:pPr>
            <a:r>
              <a:rPr lang="en-US" sz="2100" dirty="0">
                <a:solidFill>
                  <a:srgbClr val="243536"/>
                </a:solidFill>
                <a:latin typeface="Calibri" pitchFamily="34" charset="0"/>
                <a:ea typeface="Calibri" pitchFamily="34" charset="-122"/>
                <a:cs typeface="Calibri" pitchFamily="34" charset="-120"/>
              </a:rPr>
              <a:t>Position B</a:t>
            </a:r>
            <a:endParaRPr lang="en-US" sz="2100" dirty="0"/>
          </a:p>
        </p:txBody>
      </p:sp>
      <p:sp>
        <p:nvSpPr>
          <p:cNvPr id="24" name="Shape 21"/>
          <p:cNvSpPr/>
          <p:nvPr/>
        </p:nvSpPr>
        <p:spPr>
          <a:xfrm>
            <a:off x="6492240" y="4709160"/>
            <a:ext cx="1965960" cy="640080"/>
          </a:xfrm>
          <a:prstGeom prst="roundRect">
            <a:avLst>
              <a:gd name="adj" fmla="val 20000"/>
            </a:avLst>
          </a:prstGeom>
          <a:solidFill>
            <a:srgbClr val="C9F0DC"/>
          </a:solidFill>
          <a:ln w="13970">
            <a:solidFill>
              <a:srgbClr val="C9F0DC"/>
            </a:solidFill>
            <a:prstDash val="solid"/>
          </a:ln>
        </p:spPr>
      </p:sp>
      <p:sp>
        <p:nvSpPr>
          <p:cNvPr id="25" name="Text 22"/>
          <p:cNvSpPr/>
          <p:nvPr/>
        </p:nvSpPr>
        <p:spPr>
          <a:xfrm>
            <a:off x="6620256" y="4855464"/>
            <a:ext cx="1737360" cy="320040"/>
          </a:xfrm>
          <a:prstGeom prst="rect">
            <a:avLst/>
          </a:prstGeom>
          <a:noFill/>
          <a:ln/>
        </p:spPr>
        <p:txBody>
          <a:bodyPr wrap="square" lIns="0" tIns="0" rIns="0" bIns="0" rtlCol="0" anchor="ctr"/>
          <a:lstStyle/>
          <a:p>
            <a:pPr indent="0" marL="0">
              <a:buNone/>
            </a:pPr>
            <a:r>
              <a:rPr lang="en-US" sz="2100" dirty="0">
                <a:solidFill>
                  <a:srgbClr val="243536"/>
                </a:solidFill>
                <a:latin typeface="Calibri" pitchFamily="34" charset="0"/>
                <a:ea typeface="Calibri" pitchFamily="34" charset="-122"/>
                <a:cs typeface="Calibri" pitchFamily="34" charset="-120"/>
              </a:rPr>
              <a:t>Position C</a:t>
            </a:r>
            <a:endParaRPr lang="en-US" sz="2100" dirty="0"/>
          </a:p>
        </p:txBody>
      </p:sp>
      <p:sp>
        <p:nvSpPr>
          <p:cNvPr id="26" name="Shape 23"/>
          <p:cNvSpPr/>
          <p:nvPr/>
        </p:nvSpPr>
        <p:spPr>
          <a:xfrm>
            <a:off x="9555480" y="4114800"/>
            <a:ext cx="1828800" cy="777240"/>
          </a:xfrm>
          <a:prstGeom prst="roundRect">
            <a:avLst>
              <a:gd name="adj" fmla="val 16471"/>
            </a:avLst>
          </a:prstGeom>
          <a:solidFill>
            <a:srgbClr val="E2DFF2"/>
          </a:solidFill>
          <a:ln w="13970">
            <a:solidFill>
              <a:srgbClr val="E2DFF2"/>
            </a:solidFill>
            <a:prstDash val="solid"/>
          </a:ln>
        </p:spPr>
      </p:sp>
      <p:sp>
        <p:nvSpPr>
          <p:cNvPr id="27" name="Text 24"/>
          <p:cNvSpPr/>
          <p:nvPr/>
        </p:nvSpPr>
        <p:spPr>
          <a:xfrm>
            <a:off x="9710928" y="4315968"/>
            <a:ext cx="1554480" cy="365760"/>
          </a:xfrm>
          <a:prstGeom prst="rect">
            <a:avLst/>
          </a:prstGeom>
          <a:noFill/>
          <a:ln/>
        </p:spPr>
        <p:txBody>
          <a:bodyPr wrap="square" lIns="0" tIns="0" rIns="0" bIns="0" rtlCol="0" anchor="ctr"/>
          <a:lstStyle/>
          <a:p>
            <a:pPr indent="0" marL="0">
              <a:buNone/>
            </a:pPr>
            <a:r>
              <a:rPr lang="en-US" sz="2100" dirty="0">
                <a:solidFill>
                  <a:srgbClr val="243536"/>
                </a:solidFill>
                <a:latin typeface="Calibri" pitchFamily="34" charset="0"/>
                <a:ea typeface="Calibri" pitchFamily="34" charset="-122"/>
                <a:cs typeface="Calibri" pitchFamily="34" charset="-120"/>
              </a:rPr>
              <a:t>This position</a:t>
            </a:r>
            <a:endParaRPr lang="en-US" sz="2100" dirty="0"/>
          </a:p>
        </p:txBody>
      </p:sp>
      <p:sp>
        <p:nvSpPr>
          <p:cNvPr id="28" name="Shape 25"/>
          <p:cNvSpPr/>
          <p:nvPr/>
        </p:nvSpPr>
        <p:spPr>
          <a:xfrm flipH="1">
            <a:off x="1805940" y="4389120"/>
            <a:ext cx="7749540" cy="320040"/>
          </a:xfrm>
          <a:prstGeom prst="line">
            <a:avLst/>
          </a:prstGeom>
          <a:noFill/>
          <a:ln w="25400">
            <a:solidFill>
              <a:srgbClr val="23775B"/>
            </a:solidFill>
            <a:prstDash val="solid"/>
            <a:headEnd type="none"/>
            <a:tailEnd type="triangle"/>
          </a:ln>
        </p:spPr>
      </p:sp>
      <p:sp>
        <p:nvSpPr>
          <p:cNvPr id="29" name="Shape 26"/>
          <p:cNvSpPr/>
          <p:nvPr/>
        </p:nvSpPr>
        <p:spPr>
          <a:xfrm flipH="1">
            <a:off x="4640580" y="4389120"/>
            <a:ext cx="4914900" cy="320040"/>
          </a:xfrm>
          <a:prstGeom prst="line">
            <a:avLst/>
          </a:prstGeom>
          <a:noFill/>
          <a:ln w="25400">
            <a:solidFill>
              <a:srgbClr val="23775B"/>
            </a:solidFill>
            <a:prstDash val="solid"/>
            <a:headEnd type="none"/>
            <a:tailEnd type="triangle"/>
          </a:ln>
        </p:spPr>
      </p:sp>
      <p:sp>
        <p:nvSpPr>
          <p:cNvPr id="30" name="Shape 27"/>
          <p:cNvSpPr/>
          <p:nvPr/>
        </p:nvSpPr>
        <p:spPr>
          <a:xfrm flipH="1">
            <a:off x="7475220" y="4389120"/>
            <a:ext cx="2080260" cy="320040"/>
          </a:xfrm>
          <a:prstGeom prst="line">
            <a:avLst/>
          </a:prstGeom>
          <a:noFill/>
          <a:ln w="25400">
            <a:solidFill>
              <a:srgbClr val="23775B"/>
            </a:solidFill>
            <a:prstDash val="solid"/>
            <a:headEnd type="none"/>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Query, key, value: think of a library</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An analogy for matching information, not a literal search engine.</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4 / 12   |   3 min</a:t>
            </a:r>
            <a:endParaRPr lang="en-US" sz="1400" dirty="0"/>
          </a:p>
        </p:txBody>
      </p:sp>
      <p:sp>
        <p:nvSpPr>
          <p:cNvPr id="7" name="Shape 4"/>
          <p:cNvSpPr/>
          <p:nvPr/>
        </p:nvSpPr>
        <p:spPr>
          <a:xfrm>
            <a:off x="640080" y="2057400"/>
            <a:ext cx="3429000" cy="2651760"/>
          </a:xfrm>
          <a:prstGeom prst="roundRect">
            <a:avLst>
              <a:gd name="adj" fmla="val 4828"/>
            </a:avLst>
          </a:prstGeom>
          <a:solidFill>
            <a:srgbClr val="E2DFF2"/>
          </a:solidFill>
          <a:ln w="13970">
            <a:solidFill>
              <a:srgbClr val="E2DFF2"/>
            </a:solidFill>
            <a:prstDash val="solid"/>
          </a:ln>
        </p:spPr>
      </p:sp>
      <p:sp>
        <p:nvSpPr>
          <p:cNvPr id="8" name="Text 5"/>
          <p:cNvSpPr/>
          <p:nvPr/>
        </p:nvSpPr>
        <p:spPr>
          <a:xfrm>
            <a:off x="850392" y="2203704"/>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Q / Query</a:t>
            </a:r>
            <a:endParaRPr lang="en-US" sz="2700" dirty="0"/>
          </a:p>
        </p:txBody>
      </p:sp>
      <p:sp>
        <p:nvSpPr>
          <p:cNvPr id="9" name="Text 6"/>
          <p:cNvSpPr/>
          <p:nvPr/>
        </p:nvSpPr>
        <p:spPr>
          <a:xfrm>
            <a:off x="850392" y="2807208"/>
            <a:ext cx="3008376" cy="173736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The request</a:t>
            </a:r>
            <a:endParaRPr lang="en-US" sz="2300" dirty="0"/>
          </a:p>
          <a:p>
            <a:pPr indent="0" marL="0">
              <a:buNone/>
            </a:pP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"Warm lunch"</a:t>
            </a:r>
            <a:endParaRPr lang="en-US" sz="2300" dirty="0"/>
          </a:p>
        </p:txBody>
      </p:sp>
      <p:sp>
        <p:nvSpPr>
          <p:cNvPr id="10" name="Shape 7"/>
          <p:cNvSpPr/>
          <p:nvPr/>
        </p:nvSpPr>
        <p:spPr>
          <a:xfrm>
            <a:off x="4389120" y="2057400"/>
            <a:ext cx="3429000" cy="2651760"/>
          </a:xfrm>
          <a:prstGeom prst="roundRect">
            <a:avLst>
              <a:gd name="adj" fmla="val 4828"/>
            </a:avLst>
          </a:prstGeom>
          <a:solidFill>
            <a:srgbClr val="F5D98B"/>
          </a:solidFill>
          <a:ln w="13970">
            <a:solidFill>
              <a:srgbClr val="F5D98B"/>
            </a:solidFill>
            <a:prstDash val="solid"/>
          </a:ln>
        </p:spPr>
      </p:sp>
      <p:sp>
        <p:nvSpPr>
          <p:cNvPr id="11" name="Text 8"/>
          <p:cNvSpPr/>
          <p:nvPr/>
        </p:nvSpPr>
        <p:spPr>
          <a:xfrm>
            <a:off x="4599432" y="2203704"/>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K / Key</a:t>
            </a:r>
            <a:endParaRPr lang="en-US" sz="2700" dirty="0"/>
          </a:p>
        </p:txBody>
      </p:sp>
      <p:sp>
        <p:nvSpPr>
          <p:cNvPr id="12" name="Text 9"/>
          <p:cNvSpPr/>
          <p:nvPr/>
        </p:nvSpPr>
        <p:spPr>
          <a:xfrm>
            <a:off x="4599432" y="2807208"/>
            <a:ext cx="3008376" cy="173736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The matching features</a:t>
            </a:r>
            <a:endParaRPr lang="en-US" sz="2300" dirty="0"/>
          </a:p>
          <a:p>
            <a:pPr indent="0" marL="0">
              <a:buNone/>
            </a:pP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"Soup, hot, lunch"</a:t>
            </a:r>
            <a:endParaRPr lang="en-US" sz="2300" dirty="0"/>
          </a:p>
        </p:txBody>
      </p:sp>
      <p:sp>
        <p:nvSpPr>
          <p:cNvPr id="13" name="Shape 10"/>
          <p:cNvSpPr/>
          <p:nvPr/>
        </p:nvSpPr>
        <p:spPr>
          <a:xfrm>
            <a:off x="8138160" y="2057400"/>
            <a:ext cx="3429000" cy="2651760"/>
          </a:xfrm>
          <a:prstGeom prst="roundRect">
            <a:avLst>
              <a:gd name="adj" fmla="val 4828"/>
            </a:avLst>
          </a:prstGeom>
          <a:solidFill>
            <a:srgbClr val="C9F0DC"/>
          </a:solidFill>
          <a:ln w="13970">
            <a:solidFill>
              <a:srgbClr val="C9F0DC"/>
            </a:solidFill>
            <a:prstDash val="solid"/>
          </a:ln>
        </p:spPr>
      </p:sp>
      <p:sp>
        <p:nvSpPr>
          <p:cNvPr id="14" name="Text 11"/>
          <p:cNvSpPr/>
          <p:nvPr/>
        </p:nvSpPr>
        <p:spPr>
          <a:xfrm>
            <a:off x="8348472" y="2203704"/>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V / Value</a:t>
            </a:r>
            <a:endParaRPr lang="en-US" sz="2700" dirty="0"/>
          </a:p>
        </p:txBody>
      </p:sp>
      <p:sp>
        <p:nvSpPr>
          <p:cNvPr id="15" name="Text 12"/>
          <p:cNvSpPr/>
          <p:nvPr/>
        </p:nvSpPr>
        <p:spPr>
          <a:xfrm>
            <a:off x="8348472" y="2807208"/>
            <a:ext cx="3008376" cy="173736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The content to retrieve</a:t>
            </a:r>
            <a:endParaRPr lang="en-US" sz="2300" dirty="0"/>
          </a:p>
          <a:p>
            <a:pPr indent="0" marL="0">
              <a:buNone/>
            </a:pP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The recipe information</a:t>
            </a:r>
            <a:endParaRPr lang="en-US" sz="2300" dirty="0"/>
          </a:p>
        </p:txBody>
      </p:sp>
      <p:sp>
        <p:nvSpPr>
          <p:cNvPr id="16" name="Shape 13"/>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17" name="Text 14"/>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Q + K decide how much. V supplies what gets contributed.</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Attention is a weighted blend</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Match the keys, turn scores into weights, then mix the values.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5 / 12   |   3 min</a:t>
            </a:r>
            <a:endParaRPr lang="en-US" sz="1400" dirty="0"/>
          </a:p>
        </p:txBody>
      </p:sp>
      <p:sp>
        <p:nvSpPr>
          <p:cNvPr id="7" name="Text 4"/>
          <p:cNvSpPr/>
          <p:nvPr/>
        </p:nvSpPr>
        <p:spPr>
          <a:xfrm>
            <a:off x="777240" y="2148840"/>
            <a:ext cx="1645920" cy="457200"/>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Value A</a:t>
            </a:r>
            <a:endParaRPr lang="en-US" sz="2700" dirty="0"/>
          </a:p>
        </p:txBody>
      </p:sp>
      <p:sp>
        <p:nvSpPr>
          <p:cNvPr id="8" name="Shape 5"/>
          <p:cNvSpPr/>
          <p:nvPr/>
        </p:nvSpPr>
        <p:spPr>
          <a:xfrm>
            <a:off x="2743200" y="2148840"/>
            <a:ext cx="7040880" cy="475488"/>
          </a:xfrm>
          <a:prstGeom prst="roundRect">
            <a:avLst>
              <a:gd name="adj" fmla="val 26923"/>
            </a:avLst>
          </a:prstGeom>
          <a:solidFill>
            <a:srgbClr val="E4EAE7"/>
          </a:solidFill>
          <a:ln w="13970">
            <a:solidFill>
              <a:srgbClr val="E4EAE7"/>
            </a:solidFill>
            <a:prstDash val="solid"/>
          </a:ln>
        </p:spPr>
      </p:sp>
      <p:sp>
        <p:nvSpPr>
          <p:cNvPr id="9" name="Shape 6"/>
          <p:cNvSpPr/>
          <p:nvPr/>
        </p:nvSpPr>
        <p:spPr>
          <a:xfrm>
            <a:off x="2743200" y="2148840"/>
            <a:ext cx="5632704" cy="475488"/>
          </a:xfrm>
          <a:prstGeom prst="roundRect">
            <a:avLst>
              <a:gd name="adj" fmla="val 26923"/>
            </a:avLst>
          </a:prstGeom>
          <a:solidFill>
            <a:srgbClr val="23775B"/>
          </a:solidFill>
          <a:ln w="13970">
            <a:solidFill>
              <a:srgbClr val="23775B"/>
            </a:solidFill>
            <a:prstDash val="solid"/>
          </a:ln>
        </p:spPr>
      </p:sp>
      <p:sp>
        <p:nvSpPr>
          <p:cNvPr id="10" name="Text 7"/>
          <p:cNvSpPr/>
          <p:nvPr/>
        </p:nvSpPr>
        <p:spPr>
          <a:xfrm>
            <a:off x="10149840" y="2148840"/>
            <a:ext cx="1188720" cy="475488"/>
          </a:xfrm>
          <a:prstGeom prst="rect">
            <a:avLst/>
          </a:prstGeom>
          <a:noFill/>
          <a:ln/>
        </p:spPr>
        <p:txBody>
          <a:bodyPr wrap="square" lIns="0" tIns="0" rIns="0" bIns="0" rtlCol="0" anchor="ctr"/>
          <a:lstStyle/>
          <a:p>
            <a:pPr indent="0" marL="0">
              <a:buNone/>
            </a:pPr>
            <a:r>
              <a:rPr lang="en-US" sz="3000" b="1" dirty="0">
                <a:solidFill>
                  <a:srgbClr val="243536"/>
                </a:solidFill>
                <a:latin typeface="Calibri" pitchFamily="34" charset="0"/>
                <a:ea typeface="Calibri" pitchFamily="34" charset="-122"/>
                <a:cs typeface="Calibri" pitchFamily="34" charset="-120"/>
              </a:rPr>
              <a:t>80%</a:t>
            </a:r>
            <a:endParaRPr lang="en-US" sz="3000" dirty="0"/>
          </a:p>
        </p:txBody>
      </p:sp>
      <p:sp>
        <p:nvSpPr>
          <p:cNvPr id="11" name="Text 8"/>
          <p:cNvSpPr/>
          <p:nvPr/>
        </p:nvSpPr>
        <p:spPr>
          <a:xfrm>
            <a:off x="777240" y="3099816"/>
            <a:ext cx="1645920" cy="457200"/>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Value B</a:t>
            </a:r>
            <a:endParaRPr lang="en-US" sz="2700" dirty="0"/>
          </a:p>
        </p:txBody>
      </p:sp>
      <p:sp>
        <p:nvSpPr>
          <p:cNvPr id="12" name="Shape 9"/>
          <p:cNvSpPr/>
          <p:nvPr/>
        </p:nvSpPr>
        <p:spPr>
          <a:xfrm>
            <a:off x="2743200" y="3099816"/>
            <a:ext cx="7040880" cy="475488"/>
          </a:xfrm>
          <a:prstGeom prst="roundRect">
            <a:avLst>
              <a:gd name="adj" fmla="val 26923"/>
            </a:avLst>
          </a:prstGeom>
          <a:solidFill>
            <a:srgbClr val="E4EAE7"/>
          </a:solidFill>
          <a:ln w="13970">
            <a:solidFill>
              <a:srgbClr val="E4EAE7"/>
            </a:solidFill>
            <a:prstDash val="solid"/>
          </a:ln>
        </p:spPr>
      </p:sp>
      <p:sp>
        <p:nvSpPr>
          <p:cNvPr id="13" name="Shape 10"/>
          <p:cNvSpPr/>
          <p:nvPr/>
        </p:nvSpPr>
        <p:spPr>
          <a:xfrm>
            <a:off x="2743200" y="3099816"/>
            <a:ext cx="704088" cy="475488"/>
          </a:xfrm>
          <a:prstGeom prst="roundRect">
            <a:avLst>
              <a:gd name="adj" fmla="val 26923"/>
            </a:avLst>
          </a:prstGeom>
          <a:solidFill>
            <a:srgbClr val="E67856"/>
          </a:solidFill>
          <a:ln w="13970">
            <a:solidFill>
              <a:srgbClr val="E67856"/>
            </a:solidFill>
            <a:prstDash val="solid"/>
          </a:ln>
        </p:spPr>
      </p:sp>
      <p:sp>
        <p:nvSpPr>
          <p:cNvPr id="14" name="Text 11"/>
          <p:cNvSpPr/>
          <p:nvPr/>
        </p:nvSpPr>
        <p:spPr>
          <a:xfrm>
            <a:off x="10149840" y="3099816"/>
            <a:ext cx="1188720" cy="475488"/>
          </a:xfrm>
          <a:prstGeom prst="rect">
            <a:avLst/>
          </a:prstGeom>
          <a:noFill/>
          <a:ln/>
        </p:spPr>
        <p:txBody>
          <a:bodyPr wrap="square" lIns="0" tIns="0" rIns="0" bIns="0" rtlCol="0" anchor="ctr"/>
          <a:lstStyle/>
          <a:p>
            <a:pPr indent="0" marL="0">
              <a:buNone/>
            </a:pPr>
            <a:r>
              <a:rPr lang="en-US" sz="3000" b="1" dirty="0">
                <a:solidFill>
                  <a:srgbClr val="243536"/>
                </a:solidFill>
                <a:latin typeface="Calibri" pitchFamily="34" charset="0"/>
                <a:ea typeface="Calibri" pitchFamily="34" charset="-122"/>
                <a:cs typeface="Calibri" pitchFamily="34" charset="-120"/>
              </a:rPr>
              <a:t>10%</a:t>
            </a:r>
            <a:endParaRPr lang="en-US" sz="3000" dirty="0"/>
          </a:p>
        </p:txBody>
      </p:sp>
      <p:sp>
        <p:nvSpPr>
          <p:cNvPr id="15" name="Text 12"/>
          <p:cNvSpPr/>
          <p:nvPr/>
        </p:nvSpPr>
        <p:spPr>
          <a:xfrm>
            <a:off x="777240" y="4050792"/>
            <a:ext cx="1645920" cy="457200"/>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Value C</a:t>
            </a:r>
            <a:endParaRPr lang="en-US" sz="2700" dirty="0"/>
          </a:p>
        </p:txBody>
      </p:sp>
      <p:sp>
        <p:nvSpPr>
          <p:cNvPr id="16" name="Shape 13"/>
          <p:cNvSpPr/>
          <p:nvPr/>
        </p:nvSpPr>
        <p:spPr>
          <a:xfrm>
            <a:off x="2743200" y="4050792"/>
            <a:ext cx="7040880" cy="475488"/>
          </a:xfrm>
          <a:prstGeom prst="roundRect">
            <a:avLst>
              <a:gd name="adj" fmla="val 26923"/>
            </a:avLst>
          </a:prstGeom>
          <a:solidFill>
            <a:srgbClr val="E4EAE7"/>
          </a:solidFill>
          <a:ln w="13970">
            <a:solidFill>
              <a:srgbClr val="E4EAE7"/>
            </a:solidFill>
            <a:prstDash val="solid"/>
          </a:ln>
        </p:spPr>
      </p:sp>
      <p:sp>
        <p:nvSpPr>
          <p:cNvPr id="17" name="Shape 14"/>
          <p:cNvSpPr/>
          <p:nvPr/>
        </p:nvSpPr>
        <p:spPr>
          <a:xfrm>
            <a:off x="2743200" y="4050792"/>
            <a:ext cx="704088" cy="475488"/>
          </a:xfrm>
          <a:prstGeom prst="roundRect">
            <a:avLst>
              <a:gd name="adj" fmla="val 26923"/>
            </a:avLst>
          </a:prstGeom>
          <a:solidFill>
            <a:srgbClr val="7867A0"/>
          </a:solidFill>
          <a:ln w="13970">
            <a:solidFill>
              <a:srgbClr val="7867A0"/>
            </a:solidFill>
            <a:prstDash val="solid"/>
          </a:ln>
        </p:spPr>
      </p:sp>
      <p:sp>
        <p:nvSpPr>
          <p:cNvPr id="18" name="Text 15"/>
          <p:cNvSpPr/>
          <p:nvPr/>
        </p:nvSpPr>
        <p:spPr>
          <a:xfrm>
            <a:off x="10149840" y="4050792"/>
            <a:ext cx="1188720" cy="475488"/>
          </a:xfrm>
          <a:prstGeom prst="rect">
            <a:avLst/>
          </a:prstGeom>
          <a:noFill/>
          <a:ln/>
        </p:spPr>
        <p:txBody>
          <a:bodyPr wrap="square" lIns="0" tIns="0" rIns="0" bIns="0" rtlCol="0" anchor="ctr"/>
          <a:lstStyle/>
          <a:p>
            <a:pPr indent="0" marL="0">
              <a:buNone/>
            </a:pPr>
            <a:r>
              <a:rPr lang="en-US" sz="3000" b="1" dirty="0">
                <a:solidFill>
                  <a:srgbClr val="243536"/>
                </a:solidFill>
                <a:latin typeface="Calibri" pitchFamily="34" charset="0"/>
                <a:ea typeface="Calibri" pitchFamily="34" charset="-122"/>
                <a:cs typeface="Calibri" pitchFamily="34" charset="-120"/>
              </a:rPr>
              <a:t>10%</a:t>
            </a:r>
            <a:endParaRPr lang="en-US" sz="3000" dirty="0"/>
          </a:p>
        </p:txBody>
      </p:sp>
      <p:sp>
        <p:nvSpPr>
          <p:cNvPr id="19" name="Text 16"/>
          <p:cNvSpPr/>
          <p:nvPr/>
        </p:nvSpPr>
        <p:spPr>
          <a:xfrm>
            <a:off x="822960" y="5120640"/>
            <a:ext cx="10515600" cy="320040"/>
          </a:xfrm>
          <a:prstGeom prst="rect">
            <a:avLst/>
          </a:prstGeom>
          <a:noFill/>
          <a:ln/>
        </p:spPr>
        <p:txBody>
          <a:bodyPr wrap="square" lIns="0" tIns="0" rIns="0" bIns="0" rtlCol="0" anchor="ctr"/>
          <a:lstStyle/>
          <a:p>
            <a:pPr indent="0" marL="0">
              <a:buNone/>
            </a:pPr>
            <a:r>
              <a:rPr lang="en-US" sz="1800" dirty="0">
                <a:solidFill>
                  <a:srgbClr val="526668"/>
                </a:solidFill>
                <a:latin typeface="Calibri" pitchFamily="34" charset="0"/>
                <a:ea typeface="Calibri" pitchFamily="34" charset="-122"/>
                <a:cs typeface="Calibri" pitchFamily="34" charset="-120"/>
              </a:rPr>
              <a:t>Illustrative weights only. They sum to 100%.</a:t>
            </a:r>
            <a:endParaRPr lang="en-US" sz="1800" dirty="0"/>
          </a:p>
        </p:txBody>
      </p:sp>
      <p:sp>
        <p:nvSpPr>
          <p:cNvPr id="20" name="Shape 17"/>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21" name="Text 18"/>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Attention output = weighted mixture of the value vectors.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The output is a vector, not a word</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A tiny example: different values, different mixing amounts.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6 / 12   |   3 min</a:t>
            </a:r>
            <a:endParaRPr lang="en-US" sz="1400" dirty="0"/>
          </a:p>
        </p:txBody>
      </p:sp>
      <p:sp>
        <p:nvSpPr>
          <p:cNvPr id="7" name="Shape 4"/>
          <p:cNvSpPr/>
          <p:nvPr/>
        </p:nvSpPr>
        <p:spPr>
          <a:xfrm>
            <a:off x="640080" y="1993392"/>
            <a:ext cx="3429000" cy="1645920"/>
          </a:xfrm>
          <a:prstGeom prst="roundRect">
            <a:avLst>
              <a:gd name="adj" fmla="val 7778"/>
            </a:avLst>
          </a:prstGeom>
          <a:solidFill>
            <a:srgbClr val="C9F0DC"/>
          </a:solidFill>
          <a:ln w="13970">
            <a:solidFill>
              <a:srgbClr val="C9F0DC"/>
            </a:solidFill>
            <a:prstDash val="solid"/>
          </a:ln>
        </p:spPr>
      </p:sp>
      <p:sp>
        <p:nvSpPr>
          <p:cNvPr id="8" name="Text 5"/>
          <p:cNvSpPr/>
          <p:nvPr/>
        </p:nvSpPr>
        <p:spPr>
          <a:xfrm>
            <a:off x="850392" y="2139696"/>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A: [10, 0]</a:t>
            </a:r>
            <a:endParaRPr lang="en-US" sz="2700" dirty="0"/>
          </a:p>
        </p:txBody>
      </p:sp>
      <p:sp>
        <p:nvSpPr>
          <p:cNvPr id="9" name="Text 6"/>
          <p:cNvSpPr/>
          <p:nvPr/>
        </p:nvSpPr>
        <p:spPr>
          <a:xfrm>
            <a:off x="850392" y="2743200"/>
            <a:ext cx="3008376" cy="7315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80% -&gt; [8, 0]</a:t>
            </a:r>
            <a:endParaRPr lang="en-US" sz="2300" dirty="0"/>
          </a:p>
        </p:txBody>
      </p:sp>
      <p:sp>
        <p:nvSpPr>
          <p:cNvPr id="10" name="Shape 7"/>
          <p:cNvSpPr/>
          <p:nvPr/>
        </p:nvSpPr>
        <p:spPr>
          <a:xfrm>
            <a:off x="4389120" y="1993392"/>
            <a:ext cx="3429000" cy="1645920"/>
          </a:xfrm>
          <a:prstGeom prst="roundRect">
            <a:avLst>
              <a:gd name="adj" fmla="val 7778"/>
            </a:avLst>
          </a:prstGeom>
          <a:solidFill>
            <a:srgbClr val="FCE4D9"/>
          </a:solidFill>
          <a:ln w="13970">
            <a:solidFill>
              <a:srgbClr val="FCE4D9"/>
            </a:solidFill>
            <a:prstDash val="solid"/>
          </a:ln>
        </p:spPr>
      </p:sp>
      <p:sp>
        <p:nvSpPr>
          <p:cNvPr id="11" name="Text 8"/>
          <p:cNvSpPr/>
          <p:nvPr/>
        </p:nvSpPr>
        <p:spPr>
          <a:xfrm>
            <a:off x="4599432" y="2139696"/>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B: [0, 10]</a:t>
            </a:r>
            <a:endParaRPr lang="en-US" sz="2700" dirty="0"/>
          </a:p>
        </p:txBody>
      </p:sp>
      <p:sp>
        <p:nvSpPr>
          <p:cNvPr id="12" name="Text 9"/>
          <p:cNvSpPr/>
          <p:nvPr/>
        </p:nvSpPr>
        <p:spPr>
          <a:xfrm>
            <a:off x="4599432" y="2743200"/>
            <a:ext cx="3008376" cy="7315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10% -&gt; [0, 1]</a:t>
            </a:r>
            <a:endParaRPr lang="en-US" sz="2300" dirty="0"/>
          </a:p>
        </p:txBody>
      </p:sp>
      <p:sp>
        <p:nvSpPr>
          <p:cNvPr id="13" name="Shape 10"/>
          <p:cNvSpPr/>
          <p:nvPr/>
        </p:nvSpPr>
        <p:spPr>
          <a:xfrm>
            <a:off x="8138160" y="1993392"/>
            <a:ext cx="3429000" cy="1645920"/>
          </a:xfrm>
          <a:prstGeom prst="roundRect">
            <a:avLst>
              <a:gd name="adj" fmla="val 7778"/>
            </a:avLst>
          </a:prstGeom>
          <a:solidFill>
            <a:srgbClr val="E2DFF2"/>
          </a:solidFill>
          <a:ln w="13970">
            <a:solidFill>
              <a:srgbClr val="E2DFF2"/>
            </a:solidFill>
            <a:prstDash val="solid"/>
          </a:ln>
        </p:spPr>
      </p:sp>
      <p:sp>
        <p:nvSpPr>
          <p:cNvPr id="14" name="Text 11"/>
          <p:cNvSpPr/>
          <p:nvPr/>
        </p:nvSpPr>
        <p:spPr>
          <a:xfrm>
            <a:off x="8348472" y="2139696"/>
            <a:ext cx="30083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C: [5, 5]</a:t>
            </a:r>
            <a:endParaRPr lang="en-US" sz="2700" dirty="0"/>
          </a:p>
        </p:txBody>
      </p:sp>
      <p:sp>
        <p:nvSpPr>
          <p:cNvPr id="15" name="Text 12"/>
          <p:cNvSpPr/>
          <p:nvPr/>
        </p:nvSpPr>
        <p:spPr>
          <a:xfrm>
            <a:off x="8348472" y="2743200"/>
            <a:ext cx="3008376" cy="7315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10% -&gt; [0.5, 0.5]</a:t>
            </a:r>
            <a:endParaRPr lang="en-US" sz="2300" dirty="0"/>
          </a:p>
        </p:txBody>
      </p:sp>
      <p:sp>
        <p:nvSpPr>
          <p:cNvPr id="16" name="Shape 13"/>
          <p:cNvSpPr/>
          <p:nvPr/>
        </p:nvSpPr>
        <p:spPr>
          <a:xfrm>
            <a:off x="2834640" y="4096512"/>
            <a:ext cx="6492240" cy="822960"/>
          </a:xfrm>
          <a:prstGeom prst="roundRect">
            <a:avLst>
              <a:gd name="adj" fmla="val 15556"/>
            </a:avLst>
          </a:prstGeom>
          <a:solidFill>
            <a:srgbClr val="142E30"/>
          </a:solidFill>
          <a:ln w="13970">
            <a:solidFill>
              <a:srgbClr val="142E30"/>
            </a:solidFill>
            <a:prstDash val="solid"/>
          </a:ln>
        </p:spPr>
      </p:sp>
      <p:sp>
        <p:nvSpPr>
          <p:cNvPr id="17" name="Text 14"/>
          <p:cNvSpPr/>
          <p:nvPr/>
        </p:nvSpPr>
        <p:spPr>
          <a:xfrm>
            <a:off x="3127248" y="4261104"/>
            <a:ext cx="5943600" cy="4572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Mix them -&gt; [8.5, 1.5]</a:t>
            </a:r>
            <a:endParaRPr lang="en-US" sz="3200" dirty="0"/>
          </a:p>
        </p:txBody>
      </p:sp>
      <p:sp>
        <p:nvSpPr>
          <p:cNvPr id="18" name="Shape 15"/>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19" name="Text 16"/>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Not a new word. Not directly the next V. An input to the rest of the block.</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Where do Q, K and V come from?</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The model learns how to create them from token representations.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7 / 12   |   3 min</a:t>
            </a:r>
            <a:endParaRPr lang="en-US" sz="1400" dirty="0"/>
          </a:p>
        </p:txBody>
      </p:sp>
      <p:sp>
        <p:nvSpPr>
          <p:cNvPr id="7" name="Shape 4"/>
          <p:cNvSpPr/>
          <p:nvPr/>
        </p:nvSpPr>
        <p:spPr>
          <a:xfrm>
            <a:off x="731520" y="2852928"/>
            <a:ext cx="3657600" cy="1005840"/>
          </a:xfrm>
          <a:prstGeom prst="roundRect">
            <a:avLst>
              <a:gd name="adj" fmla="val 12727"/>
            </a:avLst>
          </a:prstGeom>
          <a:solidFill>
            <a:srgbClr val="E4EAE7"/>
          </a:solidFill>
          <a:ln w="13970">
            <a:solidFill>
              <a:srgbClr val="E4EAE7"/>
            </a:solidFill>
            <a:prstDash val="solid"/>
          </a:ln>
        </p:spPr>
      </p:sp>
      <p:sp>
        <p:nvSpPr>
          <p:cNvPr id="8" name="Text 5"/>
          <p:cNvSpPr/>
          <p:nvPr/>
        </p:nvSpPr>
        <p:spPr>
          <a:xfrm>
            <a:off x="987552" y="3108960"/>
            <a:ext cx="3200400" cy="457200"/>
          </a:xfrm>
          <a:prstGeom prst="rect">
            <a:avLst/>
          </a:prstGeom>
          <a:noFill/>
          <a:ln/>
        </p:spPr>
        <p:txBody>
          <a:bodyPr wrap="square" lIns="0" tIns="0" rIns="0" bIns="0" rtlCol="0" anchor="ctr"/>
          <a:lstStyle/>
          <a:p>
            <a:pPr indent="0" marL="0">
              <a:buNone/>
            </a:pPr>
            <a:r>
              <a:rPr lang="en-US" sz="2800" b="1" dirty="0">
                <a:solidFill>
                  <a:srgbClr val="243536"/>
                </a:solidFill>
                <a:latin typeface="Calibri" pitchFamily="34" charset="0"/>
                <a:ea typeface="Calibri" pitchFamily="34" charset="-122"/>
                <a:cs typeface="Calibri" pitchFamily="34" charset="-120"/>
              </a:rPr>
              <a:t>Token representations</a:t>
            </a:r>
            <a:endParaRPr lang="en-US" sz="2800" dirty="0"/>
          </a:p>
        </p:txBody>
      </p:sp>
      <p:sp>
        <p:nvSpPr>
          <p:cNvPr id="9" name="Shape 6"/>
          <p:cNvSpPr/>
          <p:nvPr/>
        </p:nvSpPr>
        <p:spPr>
          <a:xfrm flipV="1">
            <a:off x="4389120" y="2194560"/>
            <a:ext cx="1554480" cy="1143000"/>
          </a:xfrm>
          <a:prstGeom prst="line">
            <a:avLst/>
          </a:prstGeom>
          <a:noFill/>
          <a:ln w="25400">
            <a:solidFill>
              <a:srgbClr val="526668"/>
            </a:solidFill>
            <a:prstDash val="solid"/>
            <a:headEnd type="none"/>
            <a:tailEnd type="triangle"/>
          </a:ln>
        </p:spPr>
      </p:sp>
      <p:sp>
        <p:nvSpPr>
          <p:cNvPr id="10" name="Shape 7"/>
          <p:cNvSpPr/>
          <p:nvPr/>
        </p:nvSpPr>
        <p:spPr>
          <a:xfrm>
            <a:off x="5943600" y="1828800"/>
            <a:ext cx="5440680" cy="822960"/>
          </a:xfrm>
          <a:prstGeom prst="roundRect">
            <a:avLst>
              <a:gd name="adj" fmla="val 15556"/>
            </a:avLst>
          </a:prstGeom>
          <a:solidFill>
            <a:srgbClr val="E2DFF2"/>
          </a:solidFill>
          <a:ln w="13970">
            <a:solidFill>
              <a:srgbClr val="E2DFF2"/>
            </a:solidFill>
            <a:prstDash val="solid"/>
          </a:ln>
        </p:spPr>
      </p:sp>
      <p:sp>
        <p:nvSpPr>
          <p:cNvPr id="11" name="Text 8"/>
          <p:cNvSpPr/>
          <p:nvPr/>
        </p:nvSpPr>
        <p:spPr>
          <a:xfrm>
            <a:off x="6172200" y="2011680"/>
            <a:ext cx="5029200" cy="457200"/>
          </a:xfrm>
          <a:prstGeom prst="rect">
            <a:avLst/>
          </a:prstGeom>
          <a:noFill/>
          <a:ln/>
        </p:spPr>
        <p:txBody>
          <a:bodyPr wrap="square" lIns="0" tIns="0" rIns="0" bIns="0" rtlCol="0" anchor="ctr"/>
          <a:lstStyle/>
          <a:p>
            <a:pPr indent="0" marL="0">
              <a:buNone/>
            </a:pPr>
            <a:r>
              <a:rPr lang="en-US" sz="2400" b="1" dirty="0">
                <a:solidFill>
                  <a:srgbClr val="243536"/>
                </a:solidFill>
                <a:latin typeface="Calibri" pitchFamily="34" charset="0"/>
                <a:ea typeface="Calibri" pitchFamily="34" charset="-122"/>
                <a:cs typeface="Calibri" pitchFamily="34" charset="-120"/>
              </a:rPr>
              <a:t>Q   Learned query transformation</a:t>
            </a:r>
            <a:endParaRPr lang="en-US" sz="2400" dirty="0"/>
          </a:p>
        </p:txBody>
      </p:sp>
      <p:sp>
        <p:nvSpPr>
          <p:cNvPr id="12" name="Shape 9"/>
          <p:cNvSpPr/>
          <p:nvPr/>
        </p:nvSpPr>
        <p:spPr>
          <a:xfrm>
            <a:off x="4389120" y="3337560"/>
            <a:ext cx="1554480" cy="91440"/>
          </a:xfrm>
          <a:prstGeom prst="line">
            <a:avLst/>
          </a:prstGeom>
          <a:noFill/>
          <a:ln w="25400">
            <a:solidFill>
              <a:srgbClr val="526668"/>
            </a:solidFill>
            <a:prstDash val="solid"/>
            <a:headEnd type="none"/>
            <a:tailEnd type="triangle"/>
          </a:ln>
        </p:spPr>
      </p:sp>
      <p:sp>
        <p:nvSpPr>
          <p:cNvPr id="13" name="Shape 10"/>
          <p:cNvSpPr/>
          <p:nvPr/>
        </p:nvSpPr>
        <p:spPr>
          <a:xfrm>
            <a:off x="5943600" y="3063240"/>
            <a:ext cx="5440680" cy="822960"/>
          </a:xfrm>
          <a:prstGeom prst="roundRect">
            <a:avLst>
              <a:gd name="adj" fmla="val 15556"/>
            </a:avLst>
          </a:prstGeom>
          <a:solidFill>
            <a:srgbClr val="F5D98B"/>
          </a:solidFill>
          <a:ln w="13970">
            <a:solidFill>
              <a:srgbClr val="F5D98B"/>
            </a:solidFill>
            <a:prstDash val="solid"/>
          </a:ln>
        </p:spPr>
      </p:sp>
      <p:sp>
        <p:nvSpPr>
          <p:cNvPr id="14" name="Text 11"/>
          <p:cNvSpPr/>
          <p:nvPr/>
        </p:nvSpPr>
        <p:spPr>
          <a:xfrm>
            <a:off x="6172200" y="3246120"/>
            <a:ext cx="5029200" cy="457200"/>
          </a:xfrm>
          <a:prstGeom prst="rect">
            <a:avLst/>
          </a:prstGeom>
          <a:noFill/>
          <a:ln/>
        </p:spPr>
        <p:txBody>
          <a:bodyPr wrap="square" lIns="0" tIns="0" rIns="0" bIns="0" rtlCol="0" anchor="ctr"/>
          <a:lstStyle/>
          <a:p>
            <a:pPr indent="0" marL="0">
              <a:buNone/>
            </a:pPr>
            <a:r>
              <a:rPr lang="en-US" sz="2400" b="1" dirty="0">
                <a:solidFill>
                  <a:srgbClr val="243536"/>
                </a:solidFill>
                <a:latin typeface="Calibri" pitchFamily="34" charset="0"/>
                <a:ea typeface="Calibri" pitchFamily="34" charset="-122"/>
                <a:cs typeface="Calibri" pitchFamily="34" charset="-120"/>
              </a:rPr>
              <a:t>K   Learned key transformation</a:t>
            </a:r>
            <a:endParaRPr lang="en-US" sz="2400" dirty="0"/>
          </a:p>
        </p:txBody>
      </p:sp>
      <p:sp>
        <p:nvSpPr>
          <p:cNvPr id="15" name="Shape 12"/>
          <p:cNvSpPr/>
          <p:nvPr/>
        </p:nvSpPr>
        <p:spPr>
          <a:xfrm>
            <a:off x="4389120" y="3337560"/>
            <a:ext cx="1554480" cy="1325880"/>
          </a:xfrm>
          <a:prstGeom prst="line">
            <a:avLst/>
          </a:prstGeom>
          <a:noFill/>
          <a:ln w="25400">
            <a:solidFill>
              <a:srgbClr val="526668"/>
            </a:solidFill>
            <a:prstDash val="solid"/>
            <a:headEnd type="none"/>
            <a:tailEnd type="triangle"/>
          </a:ln>
        </p:spPr>
      </p:sp>
      <p:sp>
        <p:nvSpPr>
          <p:cNvPr id="16" name="Shape 13"/>
          <p:cNvSpPr/>
          <p:nvPr/>
        </p:nvSpPr>
        <p:spPr>
          <a:xfrm>
            <a:off x="5943600" y="4297680"/>
            <a:ext cx="5440680" cy="822960"/>
          </a:xfrm>
          <a:prstGeom prst="roundRect">
            <a:avLst>
              <a:gd name="adj" fmla="val 15556"/>
            </a:avLst>
          </a:prstGeom>
          <a:solidFill>
            <a:srgbClr val="C9F0DC"/>
          </a:solidFill>
          <a:ln w="13970">
            <a:solidFill>
              <a:srgbClr val="C9F0DC"/>
            </a:solidFill>
            <a:prstDash val="solid"/>
          </a:ln>
        </p:spPr>
      </p:sp>
      <p:sp>
        <p:nvSpPr>
          <p:cNvPr id="17" name="Text 14"/>
          <p:cNvSpPr/>
          <p:nvPr/>
        </p:nvSpPr>
        <p:spPr>
          <a:xfrm>
            <a:off x="6172200" y="4480560"/>
            <a:ext cx="5029200" cy="457200"/>
          </a:xfrm>
          <a:prstGeom prst="rect">
            <a:avLst/>
          </a:prstGeom>
          <a:noFill/>
          <a:ln/>
        </p:spPr>
        <p:txBody>
          <a:bodyPr wrap="square" lIns="0" tIns="0" rIns="0" bIns="0" rtlCol="0" anchor="ctr"/>
          <a:lstStyle/>
          <a:p>
            <a:pPr indent="0" marL="0">
              <a:buNone/>
            </a:pPr>
            <a:r>
              <a:rPr lang="en-US" sz="2400" b="1" dirty="0">
                <a:solidFill>
                  <a:srgbClr val="243536"/>
                </a:solidFill>
                <a:latin typeface="Calibri" pitchFamily="34" charset="0"/>
                <a:ea typeface="Calibri" pitchFamily="34" charset="-122"/>
                <a:cs typeface="Calibri" pitchFamily="34" charset="-120"/>
              </a:rPr>
              <a:t>V   Learned value transformation</a:t>
            </a:r>
            <a:endParaRPr lang="en-US" sz="2400" dirty="0"/>
          </a:p>
        </p:txBody>
      </p:sp>
      <p:sp>
        <p:nvSpPr>
          <p:cNvPr id="18" name="Shape 15"/>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19" name="Text 16"/>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Training learns the transformations. The current input determines Q, K and V.</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Self-attention: who is allowed to read whom?</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Same mechanism, different access rules.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8 / 12   |   3 min</a:t>
            </a:r>
            <a:endParaRPr lang="en-US" sz="1400" dirty="0"/>
          </a:p>
        </p:txBody>
      </p:sp>
      <p:sp>
        <p:nvSpPr>
          <p:cNvPr id="7" name="Text 4"/>
          <p:cNvSpPr/>
          <p:nvPr/>
        </p:nvSpPr>
        <p:spPr>
          <a:xfrm>
            <a:off x="731520" y="1847088"/>
            <a:ext cx="5120640" cy="457200"/>
          </a:xfrm>
          <a:prstGeom prst="rect">
            <a:avLst/>
          </a:prstGeom>
          <a:noFill/>
          <a:ln/>
        </p:spPr>
        <p:txBody>
          <a:bodyPr wrap="square" lIns="0" tIns="0" rIns="0" bIns="0" rtlCol="0" anchor="ctr"/>
          <a:lstStyle/>
          <a:p>
            <a:pPr indent="0" marL="0">
              <a:buNone/>
            </a:pPr>
            <a:r>
              <a:rPr lang="en-US" sz="2600" b="1" dirty="0">
                <a:solidFill>
                  <a:srgbClr val="243536"/>
                </a:solidFill>
                <a:latin typeface="Calibri" pitchFamily="34" charset="0"/>
                <a:ea typeface="Calibri" pitchFamily="34" charset="-122"/>
                <a:cs typeface="Calibri" pitchFamily="34" charset="-120"/>
              </a:rPr>
              <a:t>Encoder: both directions</a:t>
            </a:r>
            <a:endParaRPr lang="en-US" sz="2600" dirty="0"/>
          </a:p>
        </p:txBody>
      </p:sp>
      <p:sp>
        <p:nvSpPr>
          <p:cNvPr id="8" name="Text 5"/>
          <p:cNvSpPr/>
          <p:nvPr/>
        </p:nvSpPr>
        <p:spPr>
          <a:xfrm>
            <a:off x="1828800"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I</a:t>
            </a:r>
            <a:endParaRPr lang="en-US" sz="1800" dirty="0"/>
          </a:p>
        </p:txBody>
      </p:sp>
      <p:sp>
        <p:nvSpPr>
          <p:cNvPr id="9" name="Text 6"/>
          <p:cNvSpPr/>
          <p:nvPr/>
        </p:nvSpPr>
        <p:spPr>
          <a:xfrm>
            <a:off x="2734056"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love</a:t>
            </a:r>
            <a:endParaRPr lang="en-US" sz="1800" dirty="0"/>
          </a:p>
        </p:txBody>
      </p:sp>
      <p:sp>
        <p:nvSpPr>
          <p:cNvPr id="10" name="Text 7"/>
          <p:cNvSpPr/>
          <p:nvPr/>
        </p:nvSpPr>
        <p:spPr>
          <a:xfrm>
            <a:off x="3639312"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learning</a:t>
            </a:r>
            <a:endParaRPr lang="en-US" sz="1800" dirty="0"/>
          </a:p>
        </p:txBody>
      </p:sp>
      <p:sp>
        <p:nvSpPr>
          <p:cNvPr id="11" name="Text 8"/>
          <p:cNvSpPr/>
          <p:nvPr/>
        </p:nvSpPr>
        <p:spPr>
          <a:xfrm>
            <a:off x="4544568"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today</a:t>
            </a:r>
            <a:endParaRPr lang="en-US" sz="1800" dirty="0"/>
          </a:p>
        </p:txBody>
      </p:sp>
      <p:sp>
        <p:nvSpPr>
          <p:cNvPr id="12" name="Text 9"/>
          <p:cNvSpPr/>
          <p:nvPr/>
        </p:nvSpPr>
        <p:spPr>
          <a:xfrm>
            <a:off x="731520" y="3017520"/>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I</a:t>
            </a:r>
            <a:endParaRPr lang="en-US" sz="1900" dirty="0"/>
          </a:p>
        </p:txBody>
      </p:sp>
      <p:sp>
        <p:nvSpPr>
          <p:cNvPr id="13" name="Shape 10"/>
          <p:cNvSpPr/>
          <p:nvPr/>
        </p:nvSpPr>
        <p:spPr>
          <a:xfrm>
            <a:off x="1847088" y="2944368"/>
            <a:ext cx="749808" cy="384048"/>
          </a:xfrm>
          <a:prstGeom prst="roundRect">
            <a:avLst>
              <a:gd name="adj" fmla="val 33333"/>
            </a:avLst>
          </a:prstGeom>
          <a:solidFill>
            <a:srgbClr val="C9F0DC"/>
          </a:solidFill>
          <a:ln w="13970">
            <a:solidFill>
              <a:srgbClr val="C9F0DC"/>
            </a:solidFill>
            <a:prstDash val="solid"/>
          </a:ln>
        </p:spPr>
      </p:sp>
      <p:sp>
        <p:nvSpPr>
          <p:cNvPr id="14" name="Text 11"/>
          <p:cNvSpPr/>
          <p:nvPr/>
        </p:nvSpPr>
        <p:spPr>
          <a:xfrm>
            <a:off x="1856232"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15" name="Shape 12"/>
          <p:cNvSpPr/>
          <p:nvPr/>
        </p:nvSpPr>
        <p:spPr>
          <a:xfrm>
            <a:off x="2752344" y="2944368"/>
            <a:ext cx="749808" cy="384048"/>
          </a:xfrm>
          <a:prstGeom prst="roundRect">
            <a:avLst>
              <a:gd name="adj" fmla="val 33333"/>
            </a:avLst>
          </a:prstGeom>
          <a:solidFill>
            <a:srgbClr val="C9F0DC"/>
          </a:solidFill>
          <a:ln w="13970">
            <a:solidFill>
              <a:srgbClr val="C9F0DC"/>
            </a:solidFill>
            <a:prstDash val="solid"/>
          </a:ln>
        </p:spPr>
      </p:sp>
      <p:sp>
        <p:nvSpPr>
          <p:cNvPr id="16" name="Text 13"/>
          <p:cNvSpPr/>
          <p:nvPr/>
        </p:nvSpPr>
        <p:spPr>
          <a:xfrm>
            <a:off x="2761488"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17" name="Shape 14"/>
          <p:cNvSpPr/>
          <p:nvPr/>
        </p:nvSpPr>
        <p:spPr>
          <a:xfrm>
            <a:off x="3657600" y="2944368"/>
            <a:ext cx="749808" cy="384048"/>
          </a:xfrm>
          <a:prstGeom prst="roundRect">
            <a:avLst>
              <a:gd name="adj" fmla="val 33333"/>
            </a:avLst>
          </a:prstGeom>
          <a:solidFill>
            <a:srgbClr val="C9F0DC"/>
          </a:solidFill>
          <a:ln w="13970">
            <a:solidFill>
              <a:srgbClr val="C9F0DC"/>
            </a:solidFill>
            <a:prstDash val="solid"/>
          </a:ln>
        </p:spPr>
      </p:sp>
      <p:sp>
        <p:nvSpPr>
          <p:cNvPr id="18" name="Text 15"/>
          <p:cNvSpPr/>
          <p:nvPr/>
        </p:nvSpPr>
        <p:spPr>
          <a:xfrm>
            <a:off x="3666744"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19" name="Shape 16"/>
          <p:cNvSpPr/>
          <p:nvPr/>
        </p:nvSpPr>
        <p:spPr>
          <a:xfrm>
            <a:off x="4562856" y="2944368"/>
            <a:ext cx="749808" cy="384048"/>
          </a:xfrm>
          <a:prstGeom prst="roundRect">
            <a:avLst>
              <a:gd name="adj" fmla="val 33333"/>
            </a:avLst>
          </a:prstGeom>
          <a:solidFill>
            <a:srgbClr val="C9F0DC"/>
          </a:solidFill>
          <a:ln w="13970">
            <a:solidFill>
              <a:srgbClr val="C9F0DC"/>
            </a:solidFill>
            <a:prstDash val="solid"/>
          </a:ln>
        </p:spPr>
      </p:sp>
      <p:sp>
        <p:nvSpPr>
          <p:cNvPr id="20" name="Text 17"/>
          <p:cNvSpPr/>
          <p:nvPr/>
        </p:nvSpPr>
        <p:spPr>
          <a:xfrm>
            <a:off x="4572000"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21" name="Text 18"/>
          <p:cNvSpPr/>
          <p:nvPr/>
        </p:nvSpPr>
        <p:spPr>
          <a:xfrm>
            <a:off x="731520" y="3493008"/>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love</a:t>
            </a:r>
            <a:endParaRPr lang="en-US" sz="1900" dirty="0"/>
          </a:p>
        </p:txBody>
      </p:sp>
      <p:sp>
        <p:nvSpPr>
          <p:cNvPr id="22" name="Shape 19"/>
          <p:cNvSpPr/>
          <p:nvPr/>
        </p:nvSpPr>
        <p:spPr>
          <a:xfrm>
            <a:off x="1847088" y="3419856"/>
            <a:ext cx="749808" cy="384048"/>
          </a:xfrm>
          <a:prstGeom prst="roundRect">
            <a:avLst>
              <a:gd name="adj" fmla="val 33333"/>
            </a:avLst>
          </a:prstGeom>
          <a:solidFill>
            <a:srgbClr val="C9F0DC"/>
          </a:solidFill>
          <a:ln w="13970">
            <a:solidFill>
              <a:srgbClr val="C9F0DC"/>
            </a:solidFill>
            <a:prstDash val="solid"/>
          </a:ln>
        </p:spPr>
      </p:sp>
      <p:sp>
        <p:nvSpPr>
          <p:cNvPr id="23" name="Text 20"/>
          <p:cNvSpPr/>
          <p:nvPr/>
        </p:nvSpPr>
        <p:spPr>
          <a:xfrm>
            <a:off x="1856232"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24" name="Shape 21"/>
          <p:cNvSpPr/>
          <p:nvPr/>
        </p:nvSpPr>
        <p:spPr>
          <a:xfrm>
            <a:off x="2752344" y="3419856"/>
            <a:ext cx="749808" cy="384048"/>
          </a:xfrm>
          <a:prstGeom prst="roundRect">
            <a:avLst>
              <a:gd name="adj" fmla="val 33333"/>
            </a:avLst>
          </a:prstGeom>
          <a:solidFill>
            <a:srgbClr val="C9F0DC"/>
          </a:solidFill>
          <a:ln w="13970">
            <a:solidFill>
              <a:srgbClr val="C9F0DC"/>
            </a:solidFill>
            <a:prstDash val="solid"/>
          </a:ln>
        </p:spPr>
      </p:sp>
      <p:sp>
        <p:nvSpPr>
          <p:cNvPr id="25" name="Text 22"/>
          <p:cNvSpPr/>
          <p:nvPr/>
        </p:nvSpPr>
        <p:spPr>
          <a:xfrm>
            <a:off x="2761488"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26" name="Shape 23"/>
          <p:cNvSpPr/>
          <p:nvPr/>
        </p:nvSpPr>
        <p:spPr>
          <a:xfrm>
            <a:off x="3657600" y="3419856"/>
            <a:ext cx="749808" cy="384048"/>
          </a:xfrm>
          <a:prstGeom prst="roundRect">
            <a:avLst>
              <a:gd name="adj" fmla="val 33333"/>
            </a:avLst>
          </a:prstGeom>
          <a:solidFill>
            <a:srgbClr val="C9F0DC"/>
          </a:solidFill>
          <a:ln w="13970">
            <a:solidFill>
              <a:srgbClr val="C9F0DC"/>
            </a:solidFill>
            <a:prstDash val="solid"/>
          </a:ln>
        </p:spPr>
      </p:sp>
      <p:sp>
        <p:nvSpPr>
          <p:cNvPr id="27" name="Text 24"/>
          <p:cNvSpPr/>
          <p:nvPr/>
        </p:nvSpPr>
        <p:spPr>
          <a:xfrm>
            <a:off x="3666744"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28" name="Shape 25"/>
          <p:cNvSpPr/>
          <p:nvPr/>
        </p:nvSpPr>
        <p:spPr>
          <a:xfrm>
            <a:off x="4562856" y="3419856"/>
            <a:ext cx="749808" cy="384048"/>
          </a:xfrm>
          <a:prstGeom prst="roundRect">
            <a:avLst>
              <a:gd name="adj" fmla="val 33333"/>
            </a:avLst>
          </a:prstGeom>
          <a:solidFill>
            <a:srgbClr val="C9F0DC"/>
          </a:solidFill>
          <a:ln w="13970">
            <a:solidFill>
              <a:srgbClr val="C9F0DC"/>
            </a:solidFill>
            <a:prstDash val="solid"/>
          </a:ln>
        </p:spPr>
      </p:sp>
      <p:sp>
        <p:nvSpPr>
          <p:cNvPr id="29" name="Text 26"/>
          <p:cNvSpPr/>
          <p:nvPr/>
        </p:nvSpPr>
        <p:spPr>
          <a:xfrm>
            <a:off x="4572000"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30" name="Text 27"/>
          <p:cNvSpPr/>
          <p:nvPr/>
        </p:nvSpPr>
        <p:spPr>
          <a:xfrm>
            <a:off x="731520" y="3968496"/>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learning</a:t>
            </a:r>
            <a:endParaRPr lang="en-US" sz="1900" dirty="0"/>
          </a:p>
        </p:txBody>
      </p:sp>
      <p:sp>
        <p:nvSpPr>
          <p:cNvPr id="31" name="Shape 28"/>
          <p:cNvSpPr/>
          <p:nvPr/>
        </p:nvSpPr>
        <p:spPr>
          <a:xfrm>
            <a:off x="1847088" y="3895344"/>
            <a:ext cx="749808" cy="384048"/>
          </a:xfrm>
          <a:prstGeom prst="roundRect">
            <a:avLst>
              <a:gd name="adj" fmla="val 33333"/>
            </a:avLst>
          </a:prstGeom>
          <a:solidFill>
            <a:srgbClr val="C9F0DC"/>
          </a:solidFill>
          <a:ln w="13970">
            <a:solidFill>
              <a:srgbClr val="C9F0DC"/>
            </a:solidFill>
            <a:prstDash val="solid"/>
          </a:ln>
        </p:spPr>
      </p:sp>
      <p:sp>
        <p:nvSpPr>
          <p:cNvPr id="32" name="Text 29"/>
          <p:cNvSpPr/>
          <p:nvPr/>
        </p:nvSpPr>
        <p:spPr>
          <a:xfrm>
            <a:off x="1856232"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33" name="Shape 30"/>
          <p:cNvSpPr/>
          <p:nvPr/>
        </p:nvSpPr>
        <p:spPr>
          <a:xfrm>
            <a:off x="2752344" y="3895344"/>
            <a:ext cx="749808" cy="384048"/>
          </a:xfrm>
          <a:prstGeom prst="roundRect">
            <a:avLst>
              <a:gd name="adj" fmla="val 33333"/>
            </a:avLst>
          </a:prstGeom>
          <a:solidFill>
            <a:srgbClr val="C9F0DC"/>
          </a:solidFill>
          <a:ln w="13970">
            <a:solidFill>
              <a:srgbClr val="C9F0DC"/>
            </a:solidFill>
            <a:prstDash val="solid"/>
          </a:ln>
        </p:spPr>
      </p:sp>
      <p:sp>
        <p:nvSpPr>
          <p:cNvPr id="34" name="Text 31"/>
          <p:cNvSpPr/>
          <p:nvPr/>
        </p:nvSpPr>
        <p:spPr>
          <a:xfrm>
            <a:off x="2761488"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35" name="Shape 32"/>
          <p:cNvSpPr/>
          <p:nvPr/>
        </p:nvSpPr>
        <p:spPr>
          <a:xfrm>
            <a:off x="3657600" y="3895344"/>
            <a:ext cx="749808" cy="384048"/>
          </a:xfrm>
          <a:prstGeom prst="roundRect">
            <a:avLst>
              <a:gd name="adj" fmla="val 33333"/>
            </a:avLst>
          </a:prstGeom>
          <a:solidFill>
            <a:srgbClr val="C9F0DC"/>
          </a:solidFill>
          <a:ln w="13970">
            <a:solidFill>
              <a:srgbClr val="C9F0DC"/>
            </a:solidFill>
            <a:prstDash val="solid"/>
          </a:ln>
        </p:spPr>
      </p:sp>
      <p:sp>
        <p:nvSpPr>
          <p:cNvPr id="36" name="Text 33"/>
          <p:cNvSpPr/>
          <p:nvPr/>
        </p:nvSpPr>
        <p:spPr>
          <a:xfrm>
            <a:off x="3666744"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37" name="Shape 34"/>
          <p:cNvSpPr/>
          <p:nvPr/>
        </p:nvSpPr>
        <p:spPr>
          <a:xfrm>
            <a:off x="4562856" y="3895344"/>
            <a:ext cx="749808" cy="384048"/>
          </a:xfrm>
          <a:prstGeom prst="roundRect">
            <a:avLst>
              <a:gd name="adj" fmla="val 33333"/>
            </a:avLst>
          </a:prstGeom>
          <a:solidFill>
            <a:srgbClr val="C9F0DC"/>
          </a:solidFill>
          <a:ln w="13970">
            <a:solidFill>
              <a:srgbClr val="C9F0DC"/>
            </a:solidFill>
            <a:prstDash val="solid"/>
          </a:ln>
        </p:spPr>
      </p:sp>
      <p:sp>
        <p:nvSpPr>
          <p:cNvPr id="38" name="Text 35"/>
          <p:cNvSpPr/>
          <p:nvPr/>
        </p:nvSpPr>
        <p:spPr>
          <a:xfrm>
            <a:off x="4572000"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39" name="Text 36"/>
          <p:cNvSpPr/>
          <p:nvPr/>
        </p:nvSpPr>
        <p:spPr>
          <a:xfrm>
            <a:off x="731520" y="4443984"/>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today</a:t>
            </a:r>
            <a:endParaRPr lang="en-US" sz="1900" dirty="0"/>
          </a:p>
        </p:txBody>
      </p:sp>
      <p:sp>
        <p:nvSpPr>
          <p:cNvPr id="40" name="Shape 37"/>
          <p:cNvSpPr/>
          <p:nvPr/>
        </p:nvSpPr>
        <p:spPr>
          <a:xfrm>
            <a:off x="1847088" y="4370832"/>
            <a:ext cx="749808" cy="384048"/>
          </a:xfrm>
          <a:prstGeom prst="roundRect">
            <a:avLst>
              <a:gd name="adj" fmla="val 33333"/>
            </a:avLst>
          </a:prstGeom>
          <a:solidFill>
            <a:srgbClr val="C9F0DC"/>
          </a:solidFill>
          <a:ln w="13970">
            <a:solidFill>
              <a:srgbClr val="C9F0DC"/>
            </a:solidFill>
            <a:prstDash val="solid"/>
          </a:ln>
        </p:spPr>
      </p:sp>
      <p:sp>
        <p:nvSpPr>
          <p:cNvPr id="41" name="Text 38"/>
          <p:cNvSpPr/>
          <p:nvPr/>
        </p:nvSpPr>
        <p:spPr>
          <a:xfrm>
            <a:off x="1856232"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42" name="Shape 39"/>
          <p:cNvSpPr/>
          <p:nvPr/>
        </p:nvSpPr>
        <p:spPr>
          <a:xfrm>
            <a:off x="2752344" y="4370832"/>
            <a:ext cx="749808" cy="384048"/>
          </a:xfrm>
          <a:prstGeom prst="roundRect">
            <a:avLst>
              <a:gd name="adj" fmla="val 33333"/>
            </a:avLst>
          </a:prstGeom>
          <a:solidFill>
            <a:srgbClr val="C9F0DC"/>
          </a:solidFill>
          <a:ln w="13970">
            <a:solidFill>
              <a:srgbClr val="C9F0DC"/>
            </a:solidFill>
            <a:prstDash val="solid"/>
          </a:ln>
        </p:spPr>
      </p:sp>
      <p:sp>
        <p:nvSpPr>
          <p:cNvPr id="43" name="Text 40"/>
          <p:cNvSpPr/>
          <p:nvPr/>
        </p:nvSpPr>
        <p:spPr>
          <a:xfrm>
            <a:off x="2761488"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44" name="Shape 41"/>
          <p:cNvSpPr/>
          <p:nvPr/>
        </p:nvSpPr>
        <p:spPr>
          <a:xfrm>
            <a:off x="3657600" y="4370832"/>
            <a:ext cx="749808" cy="384048"/>
          </a:xfrm>
          <a:prstGeom prst="roundRect">
            <a:avLst>
              <a:gd name="adj" fmla="val 33333"/>
            </a:avLst>
          </a:prstGeom>
          <a:solidFill>
            <a:srgbClr val="C9F0DC"/>
          </a:solidFill>
          <a:ln w="13970">
            <a:solidFill>
              <a:srgbClr val="C9F0DC"/>
            </a:solidFill>
            <a:prstDash val="solid"/>
          </a:ln>
        </p:spPr>
      </p:sp>
      <p:sp>
        <p:nvSpPr>
          <p:cNvPr id="45" name="Text 42"/>
          <p:cNvSpPr/>
          <p:nvPr/>
        </p:nvSpPr>
        <p:spPr>
          <a:xfrm>
            <a:off x="3666744"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46" name="Shape 43"/>
          <p:cNvSpPr/>
          <p:nvPr/>
        </p:nvSpPr>
        <p:spPr>
          <a:xfrm>
            <a:off x="4562856" y="4370832"/>
            <a:ext cx="749808" cy="384048"/>
          </a:xfrm>
          <a:prstGeom prst="roundRect">
            <a:avLst>
              <a:gd name="adj" fmla="val 33333"/>
            </a:avLst>
          </a:prstGeom>
          <a:solidFill>
            <a:srgbClr val="C9F0DC"/>
          </a:solidFill>
          <a:ln w="13970">
            <a:solidFill>
              <a:srgbClr val="C9F0DC"/>
            </a:solidFill>
            <a:prstDash val="solid"/>
          </a:ln>
        </p:spPr>
      </p:sp>
      <p:sp>
        <p:nvSpPr>
          <p:cNvPr id="47" name="Text 44"/>
          <p:cNvSpPr/>
          <p:nvPr/>
        </p:nvSpPr>
        <p:spPr>
          <a:xfrm>
            <a:off x="4572000"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48" name="Text 45"/>
          <p:cNvSpPr/>
          <p:nvPr/>
        </p:nvSpPr>
        <p:spPr>
          <a:xfrm>
            <a:off x="6400800" y="1847088"/>
            <a:ext cx="5120640" cy="457200"/>
          </a:xfrm>
          <a:prstGeom prst="rect">
            <a:avLst/>
          </a:prstGeom>
          <a:noFill/>
          <a:ln/>
        </p:spPr>
        <p:txBody>
          <a:bodyPr wrap="square" lIns="0" tIns="0" rIns="0" bIns="0" rtlCol="0" anchor="ctr"/>
          <a:lstStyle/>
          <a:p>
            <a:pPr indent="0" marL="0">
              <a:buNone/>
            </a:pPr>
            <a:r>
              <a:rPr lang="en-US" sz="2600" b="1" dirty="0">
                <a:solidFill>
                  <a:srgbClr val="243536"/>
                </a:solidFill>
                <a:latin typeface="Calibri" pitchFamily="34" charset="0"/>
                <a:ea typeface="Calibri" pitchFamily="34" charset="-122"/>
                <a:cs typeface="Calibri" pitchFamily="34" charset="-120"/>
              </a:rPr>
              <a:t>Causal decoder: no future</a:t>
            </a:r>
            <a:endParaRPr lang="en-US" sz="2600" dirty="0"/>
          </a:p>
        </p:txBody>
      </p:sp>
      <p:sp>
        <p:nvSpPr>
          <p:cNvPr id="49" name="Text 46"/>
          <p:cNvSpPr/>
          <p:nvPr/>
        </p:nvSpPr>
        <p:spPr>
          <a:xfrm>
            <a:off x="7498080"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I</a:t>
            </a:r>
            <a:endParaRPr lang="en-US" sz="1800" dirty="0"/>
          </a:p>
        </p:txBody>
      </p:sp>
      <p:sp>
        <p:nvSpPr>
          <p:cNvPr id="50" name="Text 47"/>
          <p:cNvSpPr/>
          <p:nvPr/>
        </p:nvSpPr>
        <p:spPr>
          <a:xfrm>
            <a:off x="8403336"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love</a:t>
            </a:r>
            <a:endParaRPr lang="en-US" sz="1800" dirty="0"/>
          </a:p>
        </p:txBody>
      </p:sp>
      <p:sp>
        <p:nvSpPr>
          <p:cNvPr id="51" name="Text 48"/>
          <p:cNvSpPr/>
          <p:nvPr/>
        </p:nvSpPr>
        <p:spPr>
          <a:xfrm>
            <a:off x="9308592"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learning</a:t>
            </a:r>
            <a:endParaRPr lang="en-US" sz="1800" dirty="0"/>
          </a:p>
        </p:txBody>
      </p:sp>
      <p:sp>
        <p:nvSpPr>
          <p:cNvPr id="52" name="Text 49"/>
          <p:cNvSpPr/>
          <p:nvPr/>
        </p:nvSpPr>
        <p:spPr>
          <a:xfrm>
            <a:off x="10213848" y="2514600"/>
            <a:ext cx="877824" cy="320040"/>
          </a:xfrm>
          <a:prstGeom prst="rect">
            <a:avLst/>
          </a:prstGeom>
          <a:noFill/>
          <a:ln/>
        </p:spPr>
        <p:txBody>
          <a:bodyPr wrap="square" lIns="0" tIns="0" rIns="0" bIns="0" rtlCol="0" anchor="ctr"/>
          <a:lstStyle/>
          <a:p>
            <a:pPr algn="ctr" indent="0" marL="0">
              <a:buNone/>
            </a:pPr>
            <a:r>
              <a:rPr lang="en-US" sz="1800" dirty="0">
                <a:solidFill>
                  <a:srgbClr val="243536"/>
                </a:solidFill>
                <a:latin typeface="Calibri" pitchFamily="34" charset="0"/>
                <a:ea typeface="Calibri" pitchFamily="34" charset="-122"/>
                <a:cs typeface="Calibri" pitchFamily="34" charset="-120"/>
              </a:rPr>
              <a:t>today</a:t>
            </a:r>
            <a:endParaRPr lang="en-US" sz="1800" dirty="0"/>
          </a:p>
        </p:txBody>
      </p:sp>
      <p:sp>
        <p:nvSpPr>
          <p:cNvPr id="53" name="Text 50"/>
          <p:cNvSpPr/>
          <p:nvPr/>
        </p:nvSpPr>
        <p:spPr>
          <a:xfrm>
            <a:off x="6400800" y="3017520"/>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I</a:t>
            </a:r>
            <a:endParaRPr lang="en-US" sz="1900" dirty="0"/>
          </a:p>
        </p:txBody>
      </p:sp>
      <p:sp>
        <p:nvSpPr>
          <p:cNvPr id="54" name="Shape 51"/>
          <p:cNvSpPr/>
          <p:nvPr/>
        </p:nvSpPr>
        <p:spPr>
          <a:xfrm>
            <a:off x="7516368" y="2944368"/>
            <a:ext cx="749808" cy="384048"/>
          </a:xfrm>
          <a:prstGeom prst="roundRect">
            <a:avLst>
              <a:gd name="adj" fmla="val 33333"/>
            </a:avLst>
          </a:prstGeom>
          <a:solidFill>
            <a:srgbClr val="C9F0DC"/>
          </a:solidFill>
          <a:ln w="13970">
            <a:solidFill>
              <a:srgbClr val="C9F0DC"/>
            </a:solidFill>
            <a:prstDash val="solid"/>
          </a:ln>
        </p:spPr>
      </p:sp>
      <p:sp>
        <p:nvSpPr>
          <p:cNvPr id="55" name="Text 52"/>
          <p:cNvSpPr/>
          <p:nvPr/>
        </p:nvSpPr>
        <p:spPr>
          <a:xfrm>
            <a:off x="7525512"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56" name="Shape 53"/>
          <p:cNvSpPr/>
          <p:nvPr/>
        </p:nvSpPr>
        <p:spPr>
          <a:xfrm>
            <a:off x="8421624" y="2944368"/>
            <a:ext cx="749808" cy="384048"/>
          </a:xfrm>
          <a:prstGeom prst="roundRect">
            <a:avLst>
              <a:gd name="adj" fmla="val 33333"/>
            </a:avLst>
          </a:prstGeom>
          <a:solidFill>
            <a:srgbClr val="E4EAE7"/>
          </a:solidFill>
          <a:ln w="13970">
            <a:solidFill>
              <a:srgbClr val="E4EAE7"/>
            </a:solidFill>
            <a:prstDash val="solid"/>
          </a:ln>
        </p:spPr>
      </p:sp>
      <p:sp>
        <p:nvSpPr>
          <p:cNvPr id="57" name="Text 54"/>
          <p:cNvSpPr/>
          <p:nvPr/>
        </p:nvSpPr>
        <p:spPr>
          <a:xfrm>
            <a:off x="8430768"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58" name="Shape 55"/>
          <p:cNvSpPr/>
          <p:nvPr/>
        </p:nvSpPr>
        <p:spPr>
          <a:xfrm>
            <a:off x="9326880" y="2944368"/>
            <a:ext cx="749808" cy="384048"/>
          </a:xfrm>
          <a:prstGeom prst="roundRect">
            <a:avLst>
              <a:gd name="adj" fmla="val 33333"/>
            </a:avLst>
          </a:prstGeom>
          <a:solidFill>
            <a:srgbClr val="E4EAE7"/>
          </a:solidFill>
          <a:ln w="13970">
            <a:solidFill>
              <a:srgbClr val="E4EAE7"/>
            </a:solidFill>
            <a:prstDash val="solid"/>
          </a:ln>
        </p:spPr>
      </p:sp>
      <p:sp>
        <p:nvSpPr>
          <p:cNvPr id="59" name="Text 56"/>
          <p:cNvSpPr/>
          <p:nvPr/>
        </p:nvSpPr>
        <p:spPr>
          <a:xfrm>
            <a:off x="9336024"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60" name="Shape 57"/>
          <p:cNvSpPr/>
          <p:nvPr/>
        </p:nvSpPr>
        <p:spPr>
          <a:xfrm>
            <a:off x="10232136" y="2944368"/>
            <a:ext cx="749808" cy="384048"/>
          </a:xfrm>
          <a:prstGeom prst="roundRect">
            <a:avLst>
              <a:gd name="adj" fmla="val 33333"/>
            </a:avLst>
          </a:prstGeom>
          <a:solidFill>
            <a:srgbClr val="E4EAE7"/>
          </a:solidFill>
          <a:ln w="13970">
            <a:solidFill>
              <a:srgbClr val="E4EAE7"/>
            </a:solidFill>
            <a:prstDash val="solid"/>
          </a:ln>
        </p:spPr>
      </p:sp>
      <p:sp>
        <p:nvSpPr>
          <p:cNvPr id="61" name="Text 58"/>
          <p:cNvSpPr/>
          <p:nvPr/>
        </p:nvSpPr>
        <p:spPr>
          <a:xfrm>
            <a:off x="10241280" y="2999232"/>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62" name="Text 59"/>
          <p:cNvSpPr/>
          <p:nvPr/>
        </p:nvSpPr>
        <p:spPr>
          <a:xfrm>
            <a:off x="6400800" y="3493008"/>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love</a:t>
            </a:r>
            <a:endParaRPr lang="en-US" sz="1900" dirty="0"/>
          </a:p>
        </p:txBody>
      </p:sp>
      <p:sp>
        <p:nvSpPr>
          <p:cNvPr id="63" name="Shape 60"/>
          <p:cNvSpPr/>
          <p:nvPr/>
        </p:nvSpPr>
        <p:spPr>
          <a:xfrm>
            <a:off x="7516368" y="3419856"/>
            <a:ext cx="749808" cy="384048"/>
          </a:xfrm>
          <a:prstGeom prst="roundRect">
            <a:avLst>
              <a:gd name="adj" fmla="val 33333"/>
            </a:avLst>
          </a:prstGeom>
          <a:solidFill>
            <a:srgbClr val="C9F0DC"/>
          </a:solidFill>
          <a:ln w="13970">
            <a:solidFill>
              <a:srgbClr val="C9F0DC"/>
            </a:solidFill>
            <a:prstDash val="solid"/>
          </a:ln>
        </p:spPr>
      </p:sp>
      <p:sp>
        <p:nvSpPr>
          <p:cNvPr id="64" name="Text 61"/>
          <p:cNvSpPr/>
          <p:nvPr/>
        </p:nvSpPr>
        <p:spPr>
          <a:xfrm>
            <a:off x="7525512"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65" name="Shape 62"/>
          <p:cNvSpPr/>
          <p:nvPr/>
        </p:nvSpPr>
        <p:spPr>
          <a:xfrm>
            <a:off x="8421624" y="3419856"/>
            <a:ext cx="749808" cy="384048"/>
          </a:xfrm>
          <a:prstGeom prst="roundRect">
            <a:avLst>
              <a:gd name="adj" fmla="val 33333"/>
            </a:avLst>
          </a:prstGeom>
          <a:solidFill>
            <a:srgbClr val="C9F0DC"/>
          </a:solidFill>
          <a:ln w="13970">
            <a:solidFill>
              <a:srgbClr val="C9F0DC"/>
            </a:solidFill>
            <a:prstDash val="solid"/>
          </a:ln>
        </p:spPr>
      </p:sp>
      <p:sp>
        <p:nvSpPr>
          <p:cNvPr id="66" name="Text 63"/>
          <p:cNvSpPr/>
          <p:nvPr/>
        </p:nvSpPr>
        <p:spPr>
          <a:xfrm>
            <a:off x="8430768"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67" name="Shape 64"/>
          <p:cNvSpPr/>
          <p:nvPr/>
        </p:nvSpPr>
        <p:spPr>
          <a:xfrm>
            <a:off x="9326880" y="3419856"/>
            <a:ext cx="749808" cy="384048"/>
          </a:xfrm>
          <a:prstGeom prst="roundRect">
            <a:avLst>
              <a:gd name="adj" fmla="val 33333"/>
            </a:avLst>
          </a:prstGeom>
          <a:solidFill>
            <a:srgbClr val="E4EAE7"/>
          </a:solidFill>
          <a:ln w="13970">
            <a:solidFill>
              <a:srgbClr val="E4EAE7"/>
            </a:solidFill>
            <a:prstDash val="solid"/>
          </a:ln>
        </p:spPr>
      </p:sp>
      <p:sp>
        <p:nvSpPr>
          <p:cNvPr id="68" name="Text 65"/>
          <p:cNvSpPr/>
          <p:nvPr/>
        </p:nvSpPr>
        <p:spPr>
          <a:xfrm>
            <a:off x="9336024"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69" name="Shape 66"/>
          <p:cNvSpPr/>
          <p:nvPr/>
        </p:nvSpPr>
        <p:spPr>
          <a:xfrm>
            <a:off x="10232136" y="3419856"/>
            <a:ext cx="749808" cy="384048"/>
          </a:xfrm>
          <a:prstGeom prst="roundRect">
            <a:avLst>
              <a:gd name="adj" fmla="val 33333"/>
            </a:avLst>
          </a:prstGeom>
          <a:solidFill>
            <a:srgbClr val="E4EAE7"/>
          </a:solidFill>
          <a:ln w="13970">
            <a:solidFill>
              <a:srgbClr val="E4EAE7"/>
            </a:solidFill>
            <a:prstDash val="solid"/>
          </a:ln>
        </p:spPr>
      </p:sp>
      <p:sp>
        <p:nvSpPr>
          <p:cNvPr id="70" name="Text 67"/>
          <p:cNvSpPr/>
          <p:nvPr/>
        </p:nvSpPr>
        <p:spPr>
          <a:xfrm>
            <a:off x="10241280" y="3474720"/>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71" name="Text 68"/>
          <p:cNvSpPr/>
          <p:nvPr/>
        </p:nvSpPr>
        <p:spPr>
          <a:xfrm>
            <a:off x="6400800" y="3968496"/>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learning</a:t>
            </a:r>
            <a:endParaRPr lang="en-US" sz="1900" dirty="0"/>
          </a:p>
        </p:txBody>
      </p:sp>
      <p:sp>
        <p:nvSpPr>
          <p:cNvPr id="72" name="Shape 69"/>
          <p:cNvSpPr/>
          <p:nvPr/>
        </p:nvSpPr>
        <p:spPr>
          <a:xfrm>
            <a:off x="7516368" y="3895344"/>
            <a:ext cx="749808" cy="384048"/>
          </a:xfrm>
          <a:prstGeom prst="roundRect">
            <a:avLst>
              <a:gd name="adj" fmla="val 33333"/>
            </a:avLst>
          </a:prstGeom>
          <a:solidFill>
            <a:srgbClr val="C9F0DC"/>
          </a:solidFill>
          <a:ln w="13970">
            <a:solidFill>
              <a:srgbClr val="C9F0DC"/>
            </a:solidFill>
            <a:prstDash val="solid"/>
          </a:ln>
        </p:spPr>
      </p:sp>
      <p:sp>
        <p:nvSpPr>
          <p:cNvPr id="73" name="Text 70"/>
          <p:cNvSpPr/>
          <p:nvPr/>
        </p:nvSpPr>
        <p:spPr>
          <a:xfrm>
            <a:off x="7525512"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74" name="Shape 71"/>
          <p:cNvSpPr/>
          <p:nvPr/>
        </p:nvSpPr>
        <p:spPr>
          <a:xfrm>
            <a:off x="8421624" y="3895344"/>
            <a:ext cx="749808" cy="384048"/>
          </a:xfrm>
          <a:prstGeom prst="roundRect">
            <a:avLst>
              <a:gd name="adj" fmla="val 33333"/>
            </a:avLst>
          </a:prstGeom>
          <a:solidFill>
            <a:srgbClr val="C9F0DC"/>
          </a:solidFill>
          <a:ln w="13970">
            <a:solidFill>
              <a:srgbClr val="C9F0DC"/>
            </a:solidFill>
            <a:prstDash val="solid"/>
          </a:ln>
        </p:spPr>
      </p:sp>
      <p:sp>
        <p:nvSpPr>
          <p:cNvPr id="75" name="Text 72"/>
          <p:cNvSpPr/>
          <p:nvPr/>
        </p:nvSpPr>
        <p:spPr>
          <a:xfrm>
            <a:off x="8430768"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76" name="Shape 73"/>
          <p:cNvSpPr/>
          <p:nvPr/>
        </p:nvSpPr>
        <p:spPr>
          <a:xfrm>
            <a:off x="9326880" y="3895344"/>
            <a:ext cx="749808" cy="384048"/>
          </a:xfrm>
          <a:prstGeom prst="roundRect">
            <a:avLst>
              <a:gd name="adj" fmla="val 33333"/>
            </a:avLst>
          </a:prstGeom>
          <a:solidFill>
            <a:srgbClr val="C9F0DC"/>
          </a:solidFill>
          <a:ln w="13970">
            <a:solidFill>
              <a:srgbClr val="C9F0DC"/>
            </a:solidFill>
            <a:prstDash val="solid"/>
          </a:ln>
        </p:spPr>
      </p:sp>
      <p:sp>
        <p:nvSpPr>
          <p:cNvPr id="77" name="Text 74"/>
          <p:cNvSpPr/>
          <p:nvPr/>
        </p:nvSpPr>
        <p:spPr>
          <a:xfrm>
            <a:off x="9336024"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78" name="Shape 75"/>
          <p:cNvSpPr/>
          <p:nvPr/>
        </p:nvSpPr>
        <p:spPr>
          <a:xfrm>
            <a:off x="10232136" y="3895344"/>
            <a:ext cx="749808" cy="384048"/>
          </a:xfrm>
          <a:prstGeom prst="roundRect">
            <a:avLst>
              <a:gd name="adj" fmla="val 33333"/>
            </a:avLst>
          </a:prstGeom>
          <a:solidFill>
            <a:srgbClr val="E4EAE7"/>
          </a:solidFill>
          <a:ln w="13970">
            <a:solidFill>
              <a:srgbClr val="E4EAE7"/>
            </a:solidFill>
            <a:prstDash val="solid"/>
          </a:ln>
        </p:spPr>
      </p:sp>
      <p:sp>
        <p:nvSpPr>
          <p:cNvPr id="79" name="Text 76"/>
          <p:cNvSpPr/>
          <p:nvPr/>
        </p:nvSpPr>
        <p:spPr>
          <a:xfrm>
            <a:off x="10241280" y="3950208"/>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a:t>
            </a:r>
            <a:endParaRPr lang="en-US" sz="1400" dirty="0"/>
          </a:p>
        </p:txBody>
      </p:sp>
      <p:sp>
        <p:nvSpPr>
          <p:cNvPr id="80" name="Text 77"/>
          <p:cNvSpPr/>
          <p:nvPr/>
        </p:nvSpPr>
        <p:spPr>
          <a:xfrm>
            <a:off x="6400800" y="4443984"/>
            <a:ext cx="1024128" cy="320040"/>
          </a:xfrm>
          <a:prstGeom prst="rect">
            <a:avLst/>
          </a:prstGeom>
          <a:noFill/>
          <a:ln/>
        </p:spPr>
        <p:txBody>
          <a:bodyPr wrap="square" lIns="0" tIns="0" rIns="0" bIns="0" rtlCol="0" anchor="ctr"/>
          <a:lstStyle/>
          <a:p>
            <a:pPr indent="0" marL="0">
              <a:buNone/>
            </a:pPr>
            <a:r>
              <a:rPr lang="en-US" sz="1900" dirty="0">
                <a:solidFill>
                  <a:srgbClr val="243536"/>
                </a:solidFill>
                <a:latin typeface="Calibri" pitchFamily="34" charset="0"/>
                <a:ea typeface="Calibri" pitchFamily="34" charset="-122"/>
                <a:cs typeface="Calibri" pitchFamily="34" charset="-120"/>
              </a:rPr>
              <a:t>today</a:t>
            </a:r>
            <a:endParaRPr lang="en-US" sz="1900" dirty="0"/>
          </a:p>
        </p:txBody>
      </p:sp>
      <p:sp>
        <p:nvSpPr>
          <p:cNvPr id="81" name="Shape 78"/>
          <p:cNvSpPr/>
          <p:nvPr/>
        </p:nvSpPr>
        <p:spPr>
          <a:xfrm>
            <a:off x="7516368" y="4370832"/>
            <a:ext cx="749808" cy="384048"/>
          </a:xfrm>
          <a:prstGeom prst="roundRect">
            <a:avLst>
              <a:gd name="adj" fmla="val 33333"/>
            </a:avLst>
          </a:prstGeom>
          <a:solidFill>
            <a:srgbClr val="C9F0DC"/>
          </a:solidFill>
          <a:ln w="13970">
            <a:solidFill>
              <a:srgbClr val="C9F0DC"/>
            </a:solidFill>
            <a:prstDash val="solid"/>
          </a:ln>
        </p:spPr>
      </p:sp>
      <p:sp>
        <p:nvSpPr>
          <p:cNvPr id="82" name="Text 79"/>
          <p:cNvSpPr/>
          <p:nvPr/>
        </p:nvSpPr>
        <p:spPr>
          <a:xfrm>
            <a:off x="7525512"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83" name="Shape 80"/>
          <p:cNvSpPr/>
          <p:nvPr/>
        </p:nvSpPr>
        <p:spPr>
          <a:xfrm>
            <a:off x="8421624" y="4370832"/>
            <a:ext cx="749808" cy="384048"/>
          </a:xfrm>
          <a:prstGeom prst="roundRect">
            <a:avLst>
              <a:gd name="adj" fmla="val 33333"/>
            </a:avLst>
          </a:prstGeom>
          <a:solidFill>
            <a:srgbClr val="C9F0DC"/>
          </a:solidFill>
          <a:ln w="13970">
            <a:solidFill>
              <a:srgbClr val="C9F0DC"/>
            </a:solidFill>
            <a:prstDash val="solid"/>
          </a:ln>
        </p:spPr>
      </p:sp>
      <p:sp>
        <p:nvSpPr>
          <p:cNvPr id="84" name="Text 81"/>
          <p:cNvSpPr/>
          <p:nvPr/>
        </p:nvSpPr>
        <p:spPr>
          <a:xfrm>
            <a:off x="8430768"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85" name="Shape 82"/>
          <p:cNvSpPr/>
          <p:nvPr/>
        </p:nvSpPr>
        <p:spPr>
          <a:xfrm>
            <a:off x="9326880" y="4370832"/>
            <a:ext cx="749808" cy="384048"/>
          </a:xfrm>
          <a:prstGeom prst="roundRect">
            <a:avLst>
              <a:gd name="adj" fmla="val 33333"/>
            </a:avLst>
          </a:prstGeom>
          <a:solidFill>
            <a:srgbClr val="C9F0DC"/>
          </a:solidFill>
          <a:ln w="13970">
            <a:solidFill>
              <a:srgbClr val="C9F0DC"/>
            </a:solidFill>
            <a:prstDash val="solid"/>
          </a:ln>
        </p:spPr>
      </p:sp>
      <p:sp>
        <p:nvSpPr>
          <p:cNvPr id="86" name="Text 83"/>
          <p:cNvSpPr/>
          <p:nvPr/>
        </p:nvSpPr>
        <p:spPr>
          <a:xfrm>
            <a:off x="9336024"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87" name="Shape 84"/>
          <p:cNvSpPr/>
          <p:nvPr/>
        </p:nvSpPr>
        <p:spPr>
          <a:xfrm>
            <a:off x="10232136" y="4370832"/>
            <a:ext cx="749808" cy="384048"/>
          </a:xfrm>
          <a:prstGeom prst="roundRect">
            <a:avLst>
              <a:gd name="adj" fmla="val 33333"/>
            </a:avLst>
          </a:prstGeom>
          <a:solidFill>
            <a:srgbClr val="C9F0DC"/>
          </a:solidFill>
          <a:ln w="13970">
            <a:solidFill>
              <a:srgbClr val="C9F0DC"/>
            </a:solidFill>
            <a:prstDash val="solid"/>
          </a:ln>
        </p:spPr>
      </p:sp>
      <p:sp>
        <p:nvSpPr>
          <p:cNvPr id="88" name="Text 85"/>
          <p:cNvSpPr/>
          <p:nvPr/>
        </p:nvSpPr>
        <p:spPr>
          <a:xfrm>
            <a:off x="10241280" y="4425696"/>
            <a:ext cx="731520" cy="228600"/>
          </a:xfrm>
          <a:prstGeom prst="rect">
            <a:avLst/>
          </a:prstGeom>
          <a:noFill/>
          <a:ln/>
        </p:spPr>
        <p:txBody>
          <a:bodyPr wrap="square" lIns="0" tIns="0" rIns="0" bIns="0" rtlCol="0" anchor="ctr"/>
          <a:lstStyle/>
          <a:p>
            <a:pPr algn="ctr" indent="0" marL="0">
              <a:buNone/>
            </a:pPr>
            <a:r>
              <a:rPr lang="en-US" sz="1400" dirty="0">
                <a:solidFill>
                  <a:srgbClr val="243536"/>
                </a:solidFill>
                <a:latin typeface="Calibri" pitchFamily="34" charset="0"/>
                <a:ea typeface="Calibri" pitchFamily="34" charset="-122"/>
                <a:cs typeface="Calibri" pitchFamily="34" charset="-120"/>
              </a:rPr>
              <a:t>read</a:t>
            </a:r>
            <a:endParaRPr lang="en-US" sz="1400" dirty="0"/>
          </a:p>
        </p:txBody>
      </p:sp>
      <p:sp>
        <p:nvSpPr>
          <p:cNvPr id="89" name="Text 86"/>
          <p:cNvSpPr/>
          <p:nvPr/>
        </p:nvSpPr>
        <p:spPr>
          <a:xfrm>
            <a:off x="822960" y="5120640"/>
            <a:ext cx="10698480" cy="274320"/>
          </a:xfrm>
          <a:prstGeom prst="rect">
            <a:avLst/>
          </a:prstGeom>
          <a:noFill/>
          <a:ln/>
        </p:spPr>
        <p:txBody>
          <a:bodyPr wrap="square" lIns="0" tIns="0" rIns="0" bIns="0" rtlCol="0" anchor="ctr"/>
          <a:lstStyle/>
          <a:p>
            <a:pPr indent="0" marL="0">
              <a:buNone/>
            </a:pPr>
            <a:r>
              <a:rPr lang="en-US" sz="1700" dirty="0">
                <a:solidFill>
                  <a:srgbClr val="526668"/>
                </a:solidFill>
                <a:latin typeface="Calibri" pitchFamily="34" charset="0"/>
                <a:ea typeface="Calibri" pitchFamily="34" charset="-122"/>
                <a:cs typeface="Calibri" pitchFamily="34" charset="-120"/>
              </a:rPr>
              <a:t>Rows = positions asking. Columns = positions available to read.</a:t>
            </a:r>
            <a:endParaRPr lang="en-US" sz="1700" dirty="0"/>
          </a:p>
        </p:txBody>
      </p:sp>
      <p:sp>
        <p:nvSpPr>
          <p:cNvPr id="90" name="Shape 87"/>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91" name="Text 88"/>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At "love", a causal decoder reads "I love" to predict what comes next.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A Transformer is more than attention</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These pieces work together to update token representations.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9 / 12   |   3 min</a:t>
            </a:r>
            <a:endParaRPr lang="en-US" sz="1400" dirty="0"/>
          </a:p>
        </p:txBody>
      </p:sp>
      <p:sp>
        <p:nvSpPr>
          <p:cNvPr id="7" name="Shape 4"/>
          <p:cNvSpPr/>
          <p:nvPr/>
        </p:nvSpPr>
        <p:spPr>
          <a:xfrm>
            <a:off x="685800" y="1920240"/>
            <a:ext cx="5257800" cy="1417320"/>
          </a:xfrm>
          <a:prstGeom prst="roundRect">
            <a:avLst>
              <a:gd name="adj" fmla="val 9032"/>
            </a:avLst>
          </a:prstGeom>
          <a:solidFill>
            <a:srgbClr val="E4EAE7"/>
          </a:solidFill>
          <a:ln w="13970">
            <a:solidFill>
              <a:srgbClr val="E4EAE7"/>
            </a:solidFill>
            <a:prstDash val="solid"/>
          </a:ln>
        </p:spPr>
      </p:sp>
      <p:sp>
        <p:nvSpPr>
          <p:cNvPr id="8" name="Text 5"/>
          <p:cNvSpPr/>
          <p:nvPr/>
        </p:nvSpPr>
        <p:spPr>
          <a:xfrm>
            <a:off x="896112" y="2066544"/>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Position information</a:t>
            </a:r>
            <a:endParaRPr lang="en-US" sz="2700" dirty="0"/>
          </a:p>
        </p:txBody>
      </p:sp>
      <p:sp>
        <p:nvSpPr>
          <p:cNvPr id="9" name="Text 6"/>
          <p:cNvSpPr/>
          <p:nvPr/>
        </p:nvSpPr>
        <p:spPr>
          <a:xfrm>
            <a:off x="896112" y="2670048"/>
            <a:ext cx="4837176" cy="5029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Make token order available.</a:t>
            </a:r>
            <a:endParaRPr lang="en-US" sz="2300" dirty="0"/>
          </a:p>
        </p:txBody>
      </p:sp>
      <p:sp>
        <p:nvSpPr>
          <p:cNvPr id="10" name="Shape 7"/>
          <p:cNvSpPr/>
          <p:nvPr/>
        </p:nvSpPr>
        <p:spPr>
          <a:xfrm>
            <a:off x="6263640" y="1920240"/>
            <a:ext cx="5257800" cy="1417320"/>
          </a:xfrm>
          <a:prstGeom prst="roundRect">
            <a:avLst>
              <a:gd name="adj" fmla="val 9032"/>
            </a:avLst>
          </a:prstGeom>
          <a:solidFill>
            <a:srgbClr val="C9F0DC"/>
          </a:solidFill>
          <a:ln w="13970">
            <a:solidFill>
              <a:srgbClr val="C9F0DC"/>
            </a:solidFill>
            <a:prstDash val="solid"/>
          </a:ln>
        </p:spPr>
      </p:sp>
      <p:sp>
        <p:nvSpPr>
          <p:cNvPr id="11" name="Text 8"/>
          <p:cNvSpPr/>
          <p:nvPr/>
        </p:nvSpPr>
        <p:spPr>
          <a:xfrm>
            <a:off x="6473952" y="2066544"/>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Multi-head attention</a:t>
            </a:r>
            <a:endParaRPr lang="en-US" sz="2700" dirty="0"/>
          </a:p>
        </p:txBody>
      </p:sp>
      <p:sp>
        <p:nvSpPr>
          <p:cNvPr id="12" name="Text 9"/>
          <p:cNvSpPr/>
          <p:nvPr/>
        </p:nvSpPr>
        <p:spPr>
          <a:xfrm>
            <a:off x="6473952" y="2670048"/>
            <a:ext cx="4837176" cy="5029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Mix information in several learned ways.</a:t>
            </a:r>
            <a:endParaRPr lang="en-US" sz="2300" dirty="0"/>
          </a:p>
        </p:txBody>
      </p:sp>
      <p:sp>
        <p:nvSpPr>
          <p:cNvPr id="13" name="Shape 10"/>
          <p:cNvSpPr/>
          <p:nvPr/>
        </p:nvSpPr>
        <p:spPr>
          <a:xfrm>
            <a:off x="685800" y="3657600"/>
            <a:ext cx="5257800" cy="1417320"/>
          </a:xfrm>
          <a:prstGeom prst="roundRect">
            <a:avLst>
              <a:gd name="adj" fmla="val 9032"/>
            </a:avLst>
          </a:prstGeom>
          <a:solidFill>
            <a:srgbClr val="E2DFF2"/>
          </a:solidFill>
          <a:ln w="13970">
            <a:solidFill>
              <a:srgbClr val="E2DFF2"/>
            </a:solidFill>
            <a:prstDash val="solid"/>
          </a:ln>
        </p:spPr>
      </p:sp>
      <p:sp>
        <p:nvSpPr>
          <p:cNvPr id="14" name="Text 11"/>
          <p:cNvSpPr/>
          <p:nvPr/>
        </p:nvSpPr>
        <p:spPr>
          <a:xfrm>
            <a:off x="896112" y="3803904"/>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Feed-forward network</a:t>
            </a:r>
            <a:endParaRPr lang="en-US" sz="2700" dirty="0"/>
          </a:p>
        </p:txBody>
      </p:sp>
      <p:sp>
        <p:nvSpPr>
          <p:cNvPr id="15" name="Text 12"/>
          <p:cNvSpPr/>
          <p:nvPr/>
        </p:nvSpPr>
        <p:spPr>
          <a:xfrm>
            <a:off x="896112" y="4407408"/>
            <a:ext cx="4837176" cy="5029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Transform features at each position.</a:t>
            </a:r>
            <a:endParaRPr lang="en-US" sz="2300" dirty="0"/>
          </a:p>
        </p:txBody>
      </p:sp>
      <p:sp>
        <p:nvSpPr>
          <p:cNvPr id="16" name="Shape 13"/>
          <p:cNvSpPr/>
          <p:nvPr/>
        </p:nvSpPr>
        <p:spPr>
          <a:xfrm>
            <a:off x="6263640" y="3657600"/>
            <a:ext cx="5257800" cy="1417320"/>
          </a:xfrm>
          <a:prstGeom prst="roundRect">
            <a:avLst>
              <a:gd name="adj" fmla="val 9032"/>
            </a:avLst>
          </a:prstGeom>
          <a:solidFill>
            <a:srgbClr val="F5D98B"/>
          </a:solidFill>
          <a:ln w="13970">
            <a:solidFill>
              <a:srgbClr val="F5D98B"/>
            </a:solidFill>
            <a:prstDash val="solid"/>
          </a:ln>
        </p:spPr>
      </p:sp>
      <p:sp>
        <p:nvSpPr>
          <p:cNvPr id="17" name="Text 14"/>
          <p:cNvSpPr/>
          <p:nvPr/>
        </p:nvSpPr>
        <p:spPr>
          <a:xfrm>
            <a:off x="6473952" y="3803904"/>
            <a:ext cx="48371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Residuals + normalization</a:t>
            </a:r>
            <a:endParaRPr lang="en-US" sz="2700" dirty="0"/>
          </a:p>
        </p:txBody>
      </p:sp>
      <p:sp>
        <p:nvSpPr>
          <p:cNvPr id="18" name="Text 15"/>
          <p:cNvSpPr/>
          <p:nvPr/>
        </p:nvSpPr>
        <p:spPr>
          <a:xfrm>
            <a:off x="6473952" y="4407408"/>
            <a:ext cx="4837176" cy="50292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Combine updates and regulate scales.</a:t>
            </a:r>
            <a:endParaRPr lang="en-US" sz="2300" dirty="0"/>
          </a:p>
        </p:txBody>
      </p:sp>
      <p:sp>
        <p:nvSpPr>
          <p:cNvPr id="19" name="Shape 16"/>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20" name="Text 17"/>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Repeat blocks -&gt; richer contextual representations.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Encoder reads. Decoder generates.</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A simple encoder-decoder Transformer; not every model needs both sides.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10 / 12   |   2 min</a:t>
            </a:r>
            <a:endParaRPr lang="en-US" sz="1400" dirty="0"/>
          </a:p>
        </p:txBody>
      </p:sp>
      <p:sp>
        <p:nvSpPr>
          <p:cNvPr id="7" name="Text 4"/>
          <p:cNvSpPr/>
          <p:nvPr/>
        </p:nvSpPr>
        <p:spPr>
          <a:xfrm>
            <a:off x="822960" y="1828800"/>
            <a:ext cx="4023360" cy="457200"/>
          </a:xfrm>
          <a:prstGeom prst="rect">
            <a:avLst/>
          </a:prstGeom>
          <a:noFill/>
          <a:ln/>
        </p:spPr>
        <p:txBody>
          <a:bodyPr wrap="square" lIns="0" tIns="0" rIns="0" bIns="0" rtlCol="0" anchor="ctr"/>
          <a:lstStyle/>
          <a:p>
            <a:pPr indent="0" marL="0">
              <a:buNone/>
            </a:pPr>
            <a:r>
              <a:rPr lang="en-US" sz="2600" b="1" dirty="0">
                <a:solidFill>
                  <a:srgbClr val="23775B"/>
                </a:solidFill>
                <a:latin typeface="Calibri" pitchFamily="34" charset="0"/>
                <a:ea typeface="Calibri" pitchFamily="34" charset="-122"/>
                <a:cs typeface="Calibri" pitchFamily="34" charset="-120"/>
              </a:rPr>
              <a:t>ENCODER</a:t>
            </a:r>
            <a:endParaRPr lang="en-US" sz="2600" dirty="0"/>
          </a:p>
        </p:txBody>
      </p:sp>
      <p:sp>
        <p:nvSpPr>
          <p:cNvPr id="8" name="Text 5"/>
          <p:cNvSpPr/>
          <p:nvPr/>
        </p:nvSpPr>
        <p:spPr>
          <a:xfrm>
            <a:off x="6903720" y="1828800"/>
            <a:ext cx="4297680" cy="457200"/>
          </a:xfrm>
          <a:prstGeom prst="rect">
            <a:avLst/>
          </a:prstGeom>
          <a:noFill/>
          <a:ln/>
        </p:spPr>
        <p:txBody>
          <a:bodyPr wrap="square" lIns="0" tIns="0" rIns="0" bIns="0" rtlCol="0" anchor="ctr"/>
          <a:lstStyle/>
          <a:p>
            <a:pPr indent="0" marL="0">
              <a:buNone/>
            </a:pPr>
            <a:r>
              <a:rPr lang="en-US" sz="2600" b="1" dirty="0">
                <a:solidFill>
                  <a:srgbClr val="23775B"/>
                </a:solidFill>
                <a:latin typeface="Calibri" pitchFamily="34" charset="0"/>
                <a:ea typeface="Calibri" pitchFamily="34" charset="-122"/>
                <a:cs typeface="Calibri" pitchFamily="34" charset="-120"/>
              </a:rPr>
              <a:t>DECODER</a:t>
            </a:r>
            <a:endParaRPr lang="en-US" sz="2600" dirty="0"/>
          </a:p>
        </p:txBody>
      </p:sp>
      <p:sp>
        <p:nvSpPr>
          <p:cNvPr id="9" name="Shape 6"/>
          <p:cNvSpPr/>
          <p:nvPr/>
        </p:nvSpPr>
        <p:spPr>
          <a:xfrm>
            <a:off x="822960" y="2560320"/>
            <a:ext cx="4251960" cy="603504"/>
          </a:xfrm>
          <a:prstGeom prst="roundRect">
            <a:avLst>
              <a:gd name="adj" fmla="val 21212"/>
            </a:avLst>
          </a:prstGeom>
          <a:solidFill>
            <a:srgbClr val="E4EAE7"/>
          </a:solidFill>
          <a:ln w="13970">
            <a:solidFill>
              <a:srgbClr val="E4EAE7"/>
            </a:solidFill>
            <a:prstDash val="solid"/>
          </a:ln>
        </p:spPr>
      </p:sp>
      <p:sp>
        <p:nvSpPr>
          <p:cNvPr id="10" name="Text 7"/>
          <p:cNvSpPr/>
          <p:nvPr/>
        </p:nvSpPr>
        <p:spPr>
          <a:xfrm>
            <a:off x="987552" y="26974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Input + position</a:t>
            </a:r>
            <a:endParaRPr lang="en-US" sz="2100" dirty="0"/>
          </a:p>
        </p:txBody>
      </p:sp>
      <p:sp>
        <p:nvSpPr>
          <p:cNvPr id="11" name="Shape 8"/>
          <p:cNvSpPr/>
          <p:nvPr/>
        </p:nvSpPr>
        <p:spPr>
          <a:xfrm>
            <a:off x="822960" y="3474720"/>
            <a:ext cx="4251960" cy="603504"/>
          </a:xfrm>
          <a:prstGeom prst="roundRect">
            <a:avLst>
              <a:gd name="adj" fmla="val 21212"/>
            </a:avLst>
          </a:prstGeom>
          <a:solidFill>
            <a:srgbClr val="C9F0DC"/>
          </a:solidFill>
          <a:ln w="13970">
            <a:solidFill>
              <a:srgbClr val="C9F0DC"/>
            </a:solidFill>
            <a:prstDash val="solid"/>
          </a:ln>
        </p:spPr>
      </p:sp>
      <p:sp>
        <p:nvSpPr>
          <p:cNvPr id="12" name="Text 9"/>
          <p:cNvSpPr/>
          <p:nvPr/>
        </p:nvSpPr>
        <p:spPr>
          <a:xfrm>
            <a:off x="987552" y="36118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Self-attention + feed-forward</a:t>
            </a:r>
            <a:endParaRPr lang="en-US" sz="2100" dirty="0"/>
          </a:p>
        </p:txBody>
      </p:sp>
      <p:sp>
        <p:nvSpPr>
          <p:cNvPr id="13" name="Shape 10"/>
          <p:cNvSpPr/>
          <p:nvPr/>
        </p:nvSpPr>
        <p:spPr>
          <a:xfrm>
            <a:off x="822960" y="4389120"/>
            <a:ext cx="4251960" cy="603504"/>
          </a:xfrm>
          <a:prstGeom prst="roundRect">
            <a:avLst>
              <a:gd name="adj" fmla="val 21212"/>
            </a:avLst>
          </a:prstGeom>
          <a:solidFill>
            <a:srgbClr val="C9F0DC"/>
          </a:solidFill>
          <a:ln w="13970">
            <a:solidFill>
              <a:srgbClr val="C9F0DC"/>
            </a:solidFill>
            <a:prstDash val="solid"/>
          </a:ln>
        </p:spPr>
      </p:sp>
      <p:sp>
        <p:nvSpPr>
          <p:cNvPr id="14" name="Text 11"/>
          <p:cNvSpPr/>
          <p:nvPr/>
        </p:nvSpPr>
        <p:spPr>
          <a:xfrm>
            <a:off x="987552" y="45262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Encoder output states</a:t>
            </a:r>
            <a:endParaRPr lang="en-US" sz="2100" dirty="0"/>
          </a:p>
        </p:txBody>
      </p:sp>
      <p:sp>
        <p:nvSpPr>
          <p:cNvPr id="15" name="Shape 12"/>
          <p:cNvSpPr/>
          <p:nvPr/>
        </p:nvSpPr>
        <p:spPr>
          <a:xfrm>
            <a:off x="6903720" y="2560320"/>
            <a:ext cx="4251960" cy="603504"/>
          </a:xfrm>
          <a:prstGeom prst="roundRect">
            <a:avLst>
              <a:gd name="adj" fmla="val 21212"/>
            </a:avLst>
          </a:prstGeom>
          <a:solidFill>
            <a:srgbClr val="E4EAE7"/>
          </a:solidFill>
          <a:ln w="13970">
            <a:solidFill>
              <a:srgbClr val="E4EAE7"/>
            </a:solidFill>
            <a:prstDash val="solid"/>
          </a:ln>
        </p:spPr>
      </p:sp>
      <p:sp>
        <p:nvSpPr>
          <p:cNvPr id="16" name="Text 13"/>
          <p:cNvSpPr/>
          <p:nvPr/>
        </p:nvSpPr>
        <p:spPr>
          <a:xfrm>
            <a:off x="7068312" y="26974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Earlier output + position</a:t>
            </a:r>
            <a:endParaRPr lang="en-US" sz="2100" dirty="0"/>
          </a:p>
        </p:txBody>
      </p:sp>
      <p:sp>
        <p:nvSpPr>
          <p:cNvPr id="17" name="Shape 14"/>
          <p:cNvSpPr/>
          <p:nvPr/>
        </p:nvSpPr>
        <p:spPr>
          <a:xfrm>
            <a:off x="6903720" y="3474720"/>
            <a:ext cx="4251960" cy="603504"/>
          </a:xfrm>
          <a:prstGeom prst="roundRect">
            <a:avLst>
              <a:gd name="adj" fmla="val 21212"/>
            </a:avLst>
          </a:prstGeom>
          <a:solidFill>
            <a:srgbClr val="E2DFF2"/>
          </a:solidFill>
          <a:ln w="13970">
            <a:solidFill>
              <a:srgbClr val="E2DFF2"/>
            </a:solidFill>
            <a:prstDash val="solid"/>
          </a:ln>
        </p:spPr>
      </p:sp>
      <p:sp>
        <p:nvSpPr>
          <p:cNvPr id="18" name="Text 15"/>
          <p:cNvSpPr/>
          <p:nvPr/>
        </p:nvSpPr>
        <p:spPr>
          <a:xfrm>
            <a:off x="7068312" y="36118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Masked self-attention</a:t>
            </a:r>
            <a:endParaRPr lang="en-US" sz="2100" dirty="0"/>
          </a:p>
        </p:txBody>
      </p:sp>
      <p:sp>
        <p:nvSpPr>
          <p:cNvPr id="19" name="Shape 16"/>
          <p:cNvSpPr/>
          <p:nvPr/>
        </p:nvSpPr>
        <p:spPr>
          <a:xfrm>
            <a:off x="6903720" y="4389120"/>
            <a:ext cx="4251960" cy="603504"/>
          </a:xfrm>
          <a:prstGeom prst="roundRect">
            <a:avLst>
              <a:gd name="adj" fmla="val 21212"/>
            </a:avLst>
          </a:prstGeom>
          <a:solidFill>
            <a:srgbClr val="E2DFF2"/>
          </a:solidFill>
          <a:ln w="13970">
            <a:solidFill>
              <a:srgbClr val="E2DFF2"/>
            </a:solidFill>
            <a:prstDash val="solid"/>
          </a:ln>
        </p:spPr>
      </p:sp>
      <p:sp>
        <p:nvSpPr>
          <p:cNvPr id="20" name="Text 17"/>
          <p:cNvSpPr/>
          <p:nvPr/>
        </p:nvSpPr>
        <p:spPr>
          <a:xfrm>
            <a:off x="7068312" y="4526280"/>
            <a:ext cx="3931920" cy="338328"/>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Cross-attention + feed-forward</a:t>
            </a:r>
            <a:endParaRPr lang="en-US" sz="2100" dirty="0"/>
          </a:p>
        </p:txBody>
      </p:sp>
      <p:sp>
        <p:nvSpPr>
          <p:cNvPr id="21" name="Shape 18"/>
          <p:cNvSpPr/>
          <p:nvPr/>
        </p:nvSpPr>
        <p:spPr>
          <a:xfrm>
            <a:off x="2944368" y="3172968"/>
            <a:ext cx="0" cy="274320"/>
          </a:xfrm>
          <a:prstGeom prst="line">
            <a:avLst/>
          </a:prstGeom>
          <a:noFill/>
          <a:ln w="25400">
            <a:solidFill>
              <a:srgbClr val="526668"/>
            </a:solidFill>
            <a:prstDash val="solid"/>
            <a:headEnd type="none"/>
            <a:tailEnd type="triangle"/>
          </a:ln>
        </p:spPr>
      </p:sp>
      <p:sp>
        <p:nvSpPr>
          <p:cNvPr id="22" name="Shape 19"/>
          <p:cNvSpPr/>
          <p:nvPr/>
        </p:nvSpPr>
        <p:spPr>
          <a:xfrm>
            <a:off x="2944368" y="4087368"/>
            <a:ext cx="0" cy="274320"/>
          </a:xfrm>
          <a:prstGeom prst="line">
            <a:avLst/>
          </a:prstGeom>
          <a:noFill/>
          <a:ln w="25400">
            <a:solidFill>
              <a:srgbClr val="526668"/>
            </a:solidFill>
            <a:prstDash val="solid"/>
            <a:headEnd type="none"/>
            <a:tailEnd type="triangle"/>
          </a:ln>
        </p:spPr>
      </p:sp>
      <p:sp>
        <p:nvSpPr>
          <p:cNvPr id="23" name="Shape 20"/>
          <p:cNvSpPr/>
          <p:nvPr/>
        </p:nvSpPr>
        <p:spPr>
          <a:xfrm>
            <a:off x="9025128" y="3172968"/>
            <a:ext cx="0" cy="274320"/>
          </a:xfrm>
          <a:prstGeom prst="line">
            <a:avLst/>
          </a:prstGeom>
          <a:noFill/>
          <a:ln w="25400">
            <a:solidFill>
              <a:srgbClr val="526668"/>
            </a:solidFill>
            <a:prstDash val="solid"/>
            <a:headEnd type="none"/>
            <a:tailEnd type="triangle"/>
          </a:ln>
        </p:spPr>
      </p:sp>
      <p:sp>
        <p:nvSpPr>
          <p:cNvPr id="24" name="Shape 21"/>
          <p:cNvSpPr/>
          <p:nvPr/>
        </p:nvSpPr>
        <p:spPr>
          <a:xfrm>
            <a:off x="9025128" y="4087368"/>
            <a:ext cx="0" cy="274320"/>
          </a:xfrm>
          <a:prstGeom prst="line">
            <a:avLst/>
          </a:prstGeom>
          <a:noFill/>
          <a:ln w="25400">
            <a:solidFill>
              <a:srgbClr val="526668"/>
            </a:solidFill>
            <a:prstDash val="solid"/>
            <a:headEnd type="none"/>
            <a:tailEnd type="triangle"/>
          </a:ln>
        </p:spPr>
      </p:sp>
      <p:sp>
        <p:nvSpPr>
          <p:cNvPr id="25" name="Shape 22"/>
          <p:cNvSpPr/>
          <p:nvPr/>
        </p:nvSpPr>
        <p:spPr>
          <a:xfrm>
            <a:off x="5102352" y="4690872"/>
            <a:ext cx="1737360" cy="0"/>
          </a:xfrm>
          <a:prstGeom prst="line">
            <a:avLst/>
          </a:prstGeom>
          <a:noFill/>
          <a:ln w="38100">
            <a:solidFill>
              <a:srgbClr val="E67856"/>
            </a:solidFill>
            <a:prstDash val="solid"/>
            <a:headEnd type="none"/>
            <a:tailEnd type="triangle"/>
          </a:ln>
        </p:spPr>
      </p:sp>
      <p:sp>
        <p:nvSpPr>
          <p:cNvPr id="26" name="Text 23"/>
          <p:cNvSpPr/>
          <p:nvPr/>
        </p:nvSpPr>
        <p:spPr>
          <a:xfrm>
            <a:off x="5349240" y="4215384"/>
            <a:ext cx="1280160" cy="320040"/>
          </a:xfrm>
          <a:prstGeom prst="rect">
            <a:avLst/>
          </a:prstGeom>
          <a:noFill/>
          <a:ln/>
        </p:spPr>
        <p:txBody>
          <a:bodyPr wrap="square" lIns="0" tIns="0" rIns="0" bIns="0" rtlCol="0" anchor="ctr"/>
          <a:lstStyle/>
          <a:p>
            <a:pPr indent="0" marL="0">
              <a:buNone/>
            </a:pPr>
            <a:r>
              <a:rPr lang="en-US" sz="1800" b="1" dirty="0">
                <a:solidFill>
                  <a:srgbClr val="526668"/>
                </a:solidFill>
                <a:latin typeface="Calibri" pitchFamily="34" charset="0"/>
                <a:ea typeface="Calibri" pitchFamily="34" charset="-122"/>
                <a:cs typeface="Calibri" pitchFamily="34" charset="-120"/>
              </a:rPr>
              <a:t>K / V</a:t>
            </a:r>
            <a:endParaRPr lang="en-US" sz="1800" dirty="0"/>
          </a:p>
        </p:txBody>
      </p:sp>
      <p:sp>
        <p:nvSpPr>
          <p:cNvPr id="27" name="Shape 24"/>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28" name="Text 25"/>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BERT-like: encoder only. GPT-like: decoder only, without cross-attention.</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6"/>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243536"/>
                </a:solidFill>
                <a:latin typeface="Trebuchet MS" pitchFamily="34" charset="0"/>
                <a:ea typeface="Trebuchet MS" pitchFamily="34" charset="-122"/>
                <a:cs typeface="Trebuchet MS" pitchFamily="34" charset="-120"/>
              </a:rPr>
              <a:t>Generation: predict, append, repeat</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526668"/>
                </a:solidFill>
                <a:latin typeface="Calibri" pitchFamily="34" charset="0"/>
                <a:ea typeface="Calibri" pitchFamily="34" charset="-122"/>
                <a:cs typeface="Calibri" pitchFamily="34" charset="-120"/>
              </a:rPr>
              <a:t>The final representation becomes scores for possible next tokens.</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526668"/>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526668"/>
                </a:solidFill>
                <a:latin typeface="Calibri" pitchFamily="34" charset="0"/>
                <a:ea typeface="Calibri" pitchFamily="34" charset="-122"/>
                <a:cs typeface="Calibri" pitchFamily="34" charset="-120"/>
              </a:rPr>
              <a:t>11 / 12   |   2 min</a:t>
            </a:r>
            <a:endParaRPr lang="en-US" sz="1400" dirty="0"/>
          </a:p>
        </p:txBody>
      </p:sp>
      <p:sp>
        <p:nvSpPr>
          <p:cNvPr id="7" name="Shape 4"/>
          <p:cNvSpPr/>
          <p:nvPr/>
        </p:nvSpPr>
        <p:spPr>
          <a:xfrm>
            <a:off x="731520" y="2148840"/>
            <a:ext cx="3200400" cy="2468880"/>
          </a:xfrm>
          <a:prstGeom prst="roundRect">
            <a:avLst>
              <a:gd name="adj" fmla="val 5185"/>
            </a:avLst>
          </a:prstGeom>
          <a:solidFill>
            <a:srgbClr val="E4EAE7"/>
          </a:solidFill>
          <a:ln w="13970">
            <a:solidFill>
              <a:srgbClr val="E4EAE7"/>
            </a:solidFill>
            <a:prstDash val="solid"/>
          </a:ln>
        </p:spPr>
      </p:sp>
      <p:sp>
        <p:nvSpPr>
          <p:cNvPr id="8" name="Text 5"/>
          <p:cNvSpPr/>
          <p:nvPr/>
        </p:nvSpPr>
        <p:spPr>
          <a:xfrm>
            <a:off x="941832" y="2295144"/>
            <a:ext cx="27797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Context</a:t>
            </a:r>
            <a:endParaRPr lang="en-US" sz="2700" dirty="0"/>
          </a:p>
        </p:txBody>
      </p:sp>
      <p:sp>
        <p:nvSpPr>
          <p:cNvPr id="9" name="Text 6"/>
          <p:cNvSpPr/>
          <p:nvPr/>
        </p:nvSpPr>
        <p:spPr>
          <a:xfrm>
            <a:off x="941832" y="2898648"/>
            <a:ext cx="2779776" cy="155448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"I like"</a:t>
            </a:r>
            <a:endParaRPr lang="en-US" sz="2300" dirty="0"/>
          </a:p>
        </p:txBody>
      </p:sp>
      <p:sp>
        <p:nvSpPr>
          <p:cNvPr id="10" name="Shape 7"/>
          <p:cNvSpPr/>
          <p:nvPr/>
        </p:nvSpPr>
        <p:spPr>
          <a:xfrm>
            <a:off x="4480560" y="2148840"/>
            <a:ext cx="3200400" cy="2468880"/>
          </a:xfrm>
          <a:prstGeom prst="roundRect">
            <a:avLst>
              <a:gd name="adj" fmla="val 5185"/>
            </a:avLst>
          </a:prstGeom>
          <a:solidFill>
            <a:srgbClr val="F5D98B"/>
          </a:solidFill>
          <a:ln w="13970">
            <a:solidFill>
              <a:srgbClr val="F5D98B"/>
            </a:solidFill>
            <a:prstDash val="solid"/>
          </a:ln>
        </p:spPr>
      </p:sp>
      <p:sp>
        <p:nvSpPr>
          <p:cNvPr id="11" name="Text 8"/>
          <p:cNvSpPr/>
          <p:nvPr/>
        </p:nvSpPr>
        <p:spPr>
          <a:xfrm>
            <a:off x="4690872" y="2295144"/>
            <a:ext cx="27797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Next-token options</a:t>
            </a:r>
            <a:endParaRPr lang="en-US" sz="2700" dirty="0"/>
          </a:p>
        </p:txBody>
      </p:sp>
      <p:sp>
        <p:nvSpPr>
          <p:cNvPr id="12" name="Text 9"/>
          <p:cNvSpPr/>
          <p:nvPr/>
        </p:nvSpPr>
        <p:spPr>
          <a:xfrm>
            <a:off x="4690872" y="2926080"/>
            <a:ext cx="1463040" cy="338328"/>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coffee</a:t>
            </a:r>
            <a:endParaRPr lang="en-US" sz="2300" dirty="0"/>
          </a:p>
        </p:txBody>
      </p:sp>
      <p:sp>
        <p:nvSpPr>
          <p:cNvPr id="13" name="Text 10"/>
          <p:cNvSpPr/>
          <p:nvPr/>
        </p:nvSpPr>
        <p:spPr>
          <a:xfrm>
            <a:off x="6446520" y="2926080"/>
            <a:ext cx="914400" cy="338328"/>
          </a:xfrm>
          <a:prstGeom prst="rect">
            <a:avLst/>
          </a:prstGeom>
          <a:noFill/>
          <a:ln/>
        </p:spPr>
        <p:txBody>
          <a:bodyPr wrap="square" lIns="0" tIns="0" rIns="0" bIns="0" rtlCol="0" anchor="ctr"/>
          <a:lstStyle/>
          <a:p>
            <a:pPr algn="r" indent="0" marL="0">
              <a:buNone/>
            </a:pPr>
            <a:r>
              <a:rPr lang="en-US" sz="2300" dirty="0">
                <a:solidFill>
                  <a:srgbClr val="243536"/>
                </a:solidFill>
                <a:latin typeface="Calibri" pitchFamily="34" charset="0"/>
                <a:ea typeface="Calibri" pitchFamily="34" charset="-122"/>
                <a:cs typeface="Calibri" pitchFamily="34" charset="-120"/>
              </a:rPr>
              <a:t>40%</a:t>
            </a:r>
            <a:endParaRPr lang="en-US" sz="2300" dirty="0"/>
          </a:p>
        </p:txBody>
      </p:sp>
      <p:sp>
        <p:nvSpPr>
          <p:cNvPr id="14" name="Text 11"/>
          <p:cNvSpPr/>
          <p:nvPr/>
        </p:nvSpPr>
        <p:spPr>
          <a:xfrm>
            <a:off x="4690872" y="3319272"/>
            <a:ext cx="1463040" cy="338328"/>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tea</a:t>
            </a:r>
            <a:endParaRPr lang="en-US" sz="2300" dirty="0"/>
          </a:p>
        </p:txBody>
      </p:sp>
      <p:sp>
        <p:nvSpPr>
          <p:cNvPr id="15" name="Text 12"/>
          <p:cNvSpPr/>
          <p:nvPr/>
        </p:nvSpPr>
        <p:spPr>
          <a:xfrm>
            <a:off x="6446520" y="3319272"/>
            <a:ext cx="914400" cy="338328"/>
          </a:xfrm>
          <a:prstGeom prst="rect">
            <a:avLst/>
          </a:prstGeom>
          <a:noFill/>
          <a:ln/>
        </p:spPr>
        <p:txBody>
          <a:bodyPr wrap="square" lIns="0" tIns="0" rIns="0" bIns="0" rtlCol="0" anchor="ctr"/>
          <a:lstStyle/>
          <a:p>
            <a:pPr algn="r" indent="0" marL="0">
              <a:buNone/>
            </a:pPr>
            <a:r>
              <a:rPr lang="en-US" sz="2300" dirty="0">
                <a:solidFill>
                  <a:srgbClr val="243536"/>
                </a:solidFill>
                <a:latin typeface="Calibri" pitchFamily="34" charset="0"/>
                <a:ea typeface="Calibri" pitchFamily="34" charset="-122"/>
                <a:cs typeface="Calibri" pitchFamily="34" charset="-120"/>
              </a:rPr>
              <a:t>25%</a:t>
            </a:r>
            <a:endParaRPr lang="en-US" sz="2300" dirty="0"/>
          </a:p>
        </p:txBody>
      </p:sp>
      <p:sp>
        <p:nvSpPr>
          <p:cNvPr id="16" name="Text 13"/>
          <p:cNvSpPr/>
          <p:nvPr/>
        </p:nvSpPr>
        <p:spPr>
          <a:xfrm>
            <a:off x="4690872" y="3712464"/>
            <a:ext cx="1463040" cy="338328"/>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others</a:t>
            </a:r>
            <a:endParaRPr lang="en-US" sz="2300" dirty="0"/>
          </a:p>
        </p:txBody>
      </p:sp>
      <p:sp>
        <p:nvSpPr>
          <p:cNvPr id="17" name="Text 14"/>
          <p:cNvSpPr/>
          <p:nvPr/>
        </p:nvSpPr>
        <p:spPr>
          <a:xfrm>
            <a:off x="6446520" y="3712464"/>
            <a:ext cx="914400" cy="338328"/>
          </a:xfrm>
          <a:prstGeom prst="rect">
            <a:avLst/>
          </a:prstGeom>
          <a:noFill/>
          <a:ln/>
        </p:spPr>
        <p:txBody>
          <a:bodyPr wrap="square" lIns="0" tIns="0" rIns="0" bIns="0" rtlCol="0" anchor="ctr"/>
          <a:lstStyle/>
          <a:p>
            <a:pPr algn="r" indent="0" marL="0">
              <a:buNone/>
            </a:pPr>
            <a:r>
              <a:rPr lang="en-US" sz="2300" dirty="0">
                <a:solidFill>
                  <a:srgbClr val="243536"/>
                </a:solidFill>
                <a:latin typeface="Calibri" pitchFamily="34" charset="0"/>
                <a:ea typeface="Calibri" pitchFamily="34" charset="-122"/>
                <a:cs typeface="Calibri" pitchFamily="34" charset="-120"/>
              </a:rPr>
              <a:t>35%</a:t>
            </a:r>
            <a:endParaRPr lang="en-US" sz="2300" dirty="0"/>
          </a:p>
        </p:txBody>
      </p:sp>
      <p:sp>
        <p:nvSpPr>
          <p:cNvPr id="18" name="Shape 15"/>
          <p:cNvSpPr/>
          <p:nvPr/>
        </p:nvSpPr>
        <p:spPr>
          <a:xfrm>
            <a:off x="8229600" y="2148840"/>
            <a:ext cx="3200400" cy="2468880"/>
          </a:xfrm>
          <a:prstGeom prst="roundRect">
            <a:avLst>
              <a:gd name="adj" fmla="val 5185"/>
            </a:avLst>
          </a:prstGeom>
          <a:solidFill>
            <a:srgbClr val="C9F0DC"/>
          </a:solidFill>
          <a:ln w="13970">
            <a:solidFill>
              <a:srgbClr val="C9F0DC"/>
            </a:solidFill>
            <a:prstDash val="solid"/>
          </a:ln>
        </p:spPr>
      </p:sp>
      <p:sp>
        <p:nvSpPr>
          <p:cNvPr id="19" name="Text 16"/>
          <p:cNvSpPr/>
          <p:nvPr/>
        </p:nvSpPr>
        <p:spPr>
          <a:xfrm>
            <a:off x="8439912" y="2295144"/>
            <a:ext cx="2779776" cy="475488"/>
          </a:xfrm>
          <a:prstGeom prst="rect">
            <a:avLst/>
          </a:prstGeom>
          <a:noFill/>
          <a:ln/>
        </p:spPr>
        <p:txBody>
          <a:bodyPr wrap="square" lIns="0" tIns="0" rIns="0" bIns="0" rtlCol="0" anchor="ctr"/>
          <a:lstStyle/>
          <a:p>
            <a:pPr indent="0" marL="0">
              <a:buNone/>
            </a:pPr>
            <a:r>
              <a:rPr lang="en-US" sz="2700" b="1" dirty="0">
                <a:solidFill>
                  <a:srgbClr val="243536"/>
                </a:solidFill>
                <a:latin typeface="Calibri" pitchFamily="34" charset="0"/>
                <a:ea typeface="Calibri" pitchFamily="34" charset="-122"/>
                <a:cs typeface="Calibri" pitchFamily="34" charset="-120"/>
              </a:rPr>
              <a:t>Append + repeat</a:t>
            </a:r>
            <a:endParaRPr lang="en-US" sz="2700" dirty="0"/>
          </a:p>
        </p:txBody>
      </p:sp>
      <p:sp>
        <p:nvSpPr>
          <p:cNvPr id="20" name="Text 17"/>
          <p:cNvSpPr/>
          <p:nvPr/>
        </p:nvSpPr>
        <p:spPr>
          <a:xfrm>
            <a:off x="8439912" y="2898648"/>
            <a:ext cx="2779776" cy="1554480"/>
          </a:xfrm>
          <a:prstGeom prst="rect">
            <a:avLst/>
          </a:prstGeom>
          <a:noFill/>
          <a:ln/>
        </p:spPr>
        <p:txBody>
          <a:bodyPr wrap="square" lIns="0" tIns="0" rIns="0" bIns="0" rtlCol="0" anchor="ctr"/>
          <a:lstStyle/>
          <a:p>
            <a:pPr indent="0" marL="0">
              <a:buNone/>
            </a:pPr>
            <a:r>
              <a:rPr lang="en-US" sz="2300" dirty="0">
                <a:solidFill>
                  <a:srgbClr val="243536"/>
                </a:solidFill>
                <a:latin typeface="Calibri" pitchFamily="34" charset="0"/>
                <a:ea typeface="Calibri" pitchFamily="34" charset="-122"/>
                <a:cs typeface="Calibri" pitchFamily="34" charset="-120"/>
              </a:rPr>
              <a:t>"I like coffee"</a:t>
            </a:r>
            <a:endParaRPr lang="en-US" sz="2300" dirty="0"/>
          </a:p>
          <a:p>
            <a:pPr indent="0" marL="0">
              <a:buNone/>
            </a:pPr>
            <a:endParaRPr lang="en-US" sz="2300" dirty="0"/>
          </a:p>
          <a:p>
            <a:pPr indent="0" marL="0">
              <a:buNone/>
            </a:pPr>
            <a:r>
              <a:rPr lang="en-US" sz="2300" dirty="0">
                <a:solidFill>
                  <a:srgbClr val="243536"/>
                </a:solidFill>
                <a:latin typeface="Calibri" pitchFamily="34" charset="0"/>
                <a:ea typeface="Calibri" pitchFamily="34" charset="-122"/>
                <a:cs typeface="Calibri" pitchFamily="34" charset="-120"/>
              </a:rPr>
              <a:t>Predict the next token.</a:t>
            </a:r>
            <a:endParaRPr lang="en-US" sz="2300" dirty="0"/>
          </a:p>
        </p:txBody>
      </p:sp>
      <p:sp>
        <p:nvSpPr>
          <p:cNvPr id="21" name="Shape 18"/>
          <p:cNvSpPr/>
          <p:nvPr/>
        </p:nvSpPr>
        <p:spPr>
          <a:xfrm>
            <a:off x="3950208" y="3383280"/>
            <a:ext cx="484632" cy="0"/>
          </a:xfrm>
          <a:prstGeom prst="line">
            <a:avLst/>
          </a:prstGeom>
          <a:noFill/>
          <a:ln w="25400">
            <a:solidFill>
              <a:srgbClr val="526668"/>
            </a:solidFill>
            <a:prstDash val="solid"/>
            <a:headEnd type="none"/>
            <a:tailEnd type="triangle"/>
          </a:ln>
        </p:spPr>
      </p:sp>
      <p:sp>
        <p:nvSpPr>
          <p:cNvPr id="22" name="Shape 19"/>
          <p:cNvSpPr/>
          <p:nvPr/>
        </p:nvSpPr>
        <p:spPr>
          <a:xfrm>
            <a:off x="7699248" y="3383280"/>
            <a:ext cx="484632" cy="0"/>
          </a:xfrm>
          <a:prstGeom prst="line">
            <a:avLst/>
          </a:prstGeom>
          <a:noFill/>
          <a:ln w="25400">
            <a:solidFill>
              <a:srgbClr val="526668"/>
            </a:solidFill>
            <a:prstDash val="solid"/>
            <a:headEnd type="none"/>
            <a:tailEnd type="triangle"/>
          </a:ln>
        </p:spPr>
      </p:sp>
      <p:sp>
        <p:nvSpPr>
          <p:cNvPr id="23" name="Text 20"/>
          <p:cNvSpPr/>
          <p:nvPr/>
        </p:nvSpPr>
        <p:spPr>
          <a:xfrm>
            <a:off x="822960" y="5029200"/>
            <a:ext cx="10698480" cy="320040"/>
          </a:xfrm>
          <a:prstGeom prst="rect">
            <a:avLst/>
          </a:prstGeom>
          <a:noFill/>
          <a:ln/>
        </p:spPr>
        <p:txBody>
          <a:bodyPr wrap="square" lIns="0" tIns="0" rIns="0" bIns="0" rtlCol="0" anchor="ctr"/>
          <a:lstStyle/>
          <a:p>
            <a:pPr indent="0" marL="0">
              <a:buNone/>
            </a:pPr>
            <a:r>
              <a:rPr lang="en-US" sz="1800" dirty="0">
                <a:solidFill>
                  <a:srgbClr val="526668"/>
                </a:solidFill>
                <a:latin typeface="Calibri" pitchFamily="34" charset="0"/>
                <a:ea typeface="Calibri" pitchFamily="34" charset="-122"/>
                <a:cs typeface="Calibri" pitchFamily="34" charset="-120"/>
              </a:rPr>
              <a:t>Illustrative token probabilities, not measured model output.</a:t>
            </a:r>
            <a:endParaRPr lang="en-US" sz="1800" dirty="0"/>
          </a:p>
        </p:txBody>
      </p:sp>
      <p:sp>
        <p:nvSpPr>
          <p:cNvPr id="24" name="Shape 21"/>
          <p:cNvSpPr/>
          <p:nvPr/>
        </p:nvSpPr>
        <p:spPr>
          <a:xfrm>
            <a:off x="594360" y="5504688"/>
            <a:ext cx="11000232" cy="576072"/>
          </a:xfrm>
          <a:prstGeom prst="roundRect">
            <a:avLst>
              <a:gd name="adj" fmla="val 22222"/>
            </a:avLst>
          </a:prstGeom>
          <a:solidFill>
            <a:srgbClr val="E4EAE7"/>
          </a:solidFill>
          <a:ln w="13970">
            <a:solidFill>
              <a:srgbClr val="E4EAE7"/>
            </a:solidFill>
            <a:prstDash val="solid"/>
          </a:ln>
        </p:spPr>
      </p:sp>
      <p:sp>
        <p:nvSpPr>
          <p:cNvPr id="25" name="Text 22"/>
          <p:cNvSpPr/>
          <p:nvPr/>
        </p:nvSpPr>
        <p:spPr>
          <a:xfrm>
            <a:off x="804672" y="5596128"/>
            <a:ext cx="10561320" cy="365760"/>
          </a:xfrm>
          <a:prstGeom prst="rect">
            <a:avLst/>
          </a:prstGeom>
          <a:noFill/>
          <a:ln/>
        </p:spPr>
        <p:txBody>
          <a:bodyPr wrap="square" lIns="0" tIns="0" rIns="0" bIns="0" rtlCol="0" anchor="ctr"/>
          <a:lstStyle/>
          <a:p>
            <a:pPr indent="0" marL="0">
              <a:buNone/>
            </a:pPr>
            <a:r>
              <a:rPr lang="en-US" sz="2100" b="1" dirty="0">
                <a:solidFill>
                  <a:srgbClr val="243536"/>
                </a:solidFill>
                <a:latin typeface="Calibri" pitchFamily="34" charset="0"/>
                <a:ea typeface="Calibri" pitchFamily="34" charset="-122"/>
                <a:cs typeface="Calibri" pitchFamily="34" charset="-120"/>
              </a:rPr>
              <a:t>Attention gathers information. The language-model head enables next-token prediction.</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E30"/>
        </a:solidFill>
      </p:bgPr>
    </p:bg>
    <p:spTree>
      <p:nvGrpSpPr>
        <p:cNvPr id="1" name=""/>
        <p:cNvGrpSpPr/>
        <p:nvPr/>
      </p:nvGrpSpPr>
      <p:grpSpPr>
        <a:xfrm>
          <a:off x="0" y="0"/>
          <a:ext cx="0" cy="0"/>
          <a:chOff x="0" y="0"/>
          <a:chExt cx="0" cy="0"/>
        </a:xfrm>
      </p:grpSpPr>
      <p:sp>
        <p:nvSpPr>
          <p:cNvPr id="2" name="Text 0"/>
          <p:cNvSpPr/>
          <p:nvPr/>
        </p:nvSpPr>
        <p:spPr>
          <a:xfrm>
            <a:off x="594360" y="411480"/>
            <a:ext cx="10972800" cy="68580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You only need three ideas</a:t>
            </a:r>
            <a:endParaRPr lang="en-US" sz="3600" dirty="0"/>
          </a:p>
        </p:txBody>
      </p:sp>
      <p:sp>
        <p:nvSpPr>
          <p:cNvPr id="3" name="Text 1"/>
          <p:cNvSpPr/>
          <p:nvPr/>
        </p:nvSpPr>
        <p:spPr>
          <a:xfrm>
            <a:off x="621792" y="1161288"/>
            <a:ext cx="10881360" cy="502920"/>
          </a:xfrm>
          <a:prstGeom prst="rect">
            <a:avLst/>
          </a:prstGeom>
          <a:noFill/>
          <a:ln/>
        </p:spPr>
        <p:txBody>
          <a:bodyPr wrap="square" lIns="0" tIns="0" rIns="0" bIns="0" rtlCol="0" anchor="ctr"/>
          <a:lstStyle/>
          <a:p>
            <a:pPr indent="0" marL="0">
              <a:buNone/>
            </a:pPr>
            <a:r>
              <a:rPr lang="en-US" sz="2200" dirty="0">
                <a:solidFill>
                  <a:srgbClr val="C9F0DC"/>
                </a:solidFill>
                <a:latin typeface="Calibri" pitchFamily="34" charset="0"/>
                <a:ea typeface="Calibri" pitchFamily="34" charset="-122"/>
                <a:cs typeface="Calibri" pitchFamily="34" charset="-120"/>
              </a:rPr>
              <a:t>Questions welcome. No matrix derivations required.</a:t>
            </a:r>
            <a:endParaRPr lang="en-US" sz="2200" dirty="0"/>
          </a:p>
        </p:txBody>
      </p:sp>
      <p:sp>
        <p:nvSpPr>
          <p:cNvPr id="4" name="Text 2"/>
          <p:cNvSpPr/>
          <p:nvPr/>
        </p:nvSpPr>
        <p:spPr>
          <a:xfrm>
            <a:off x="621792" y="6373368"/>
            <a:ext cx="7772400" cy="201168"/>
          </a:xfrm>
          <a:prstGeom prst="rect">
            <a:avLst/>
          </a:prstGeom>
          <a:noFill/>
          <a:ln/>
        </p:spPr>
        <p:txBody>
          <a:bodyPr wrap="square" lIns="0" tIns="0" rIns="0" bIns="0" rtlCol="0" anchor="ctr"/>
          <a:lstStyle/>
          <a:p>
            <a:pPr indent="0" marL="0">
              <a:buNone/>
            </a:pPr>
            <a:r>
              <a:rPr lang="en-US" sz="1100" spc="150" kern="0" dirty="0">
                <a:solidFill>
                  <a:srgbClr val="C9F0DC"/>
                </a:solidFill>
                <a:latin typeface="Calibri" pitchFamily="34" charset="0"/>
                <a:ea typeface="Calibri" pitchFamily="34" charset="-122"/>
                <a:cs typeface="Calibri" pitchFamily="34" charset="-120"/>
              </a:rPr>
              <a:t>ATTENTION / THE SIMPLE VERSION</a:t>
            </a:r>
            <a:endParaRPr lang="en-US" sz="1100" dirty="0"/>
          </a:p>
        </p:txBody>
      </p:sp>
      <p:sp>
        <p:nvSpPr>
          <p:cNvPr id="5" name="Text 3"/>
          <p:cNvSpPr/>
          <p:nvPr/>
        </p:nvSpPr>
        <p:spPr>
          <a:xfrm>
            <a:off x="9601200" y="6309360"/>
            <a:ext cx="1965960" cy="347472"/>
          </a:xfrm>
          <a:prstGeom prst="rect">
            <a:avLst/>
          </a:prstGeom>
          <a:noFill/>
          <a:ln/>
        </p:spPr>
        <p:txBody>
          <a:bodyPr wrap="square" lIns="0" tIns="0" rIns="0" bIns="0" rtlCol="0" anchor="ctr"/>
          <a:lstStyle/>
          <a:p>
            <a:pPr algn="r" indent="0" marL="0">
              <a:buNone/>
            </a:pPr>
            <a:r>
              <a:rPr lang="en-US" sz="1400" dirty="0">
                <a:solidFill>
                  <a:srgbClr val="C9F0DC"/>
                </a:solidFill>
                <a:latin typeface="Calibri" pitchFamily="34" charset="0"/>
                <a:ea typeface="Calibri" pitchFamily="34" charset="-122"/>
                <a:cs typeface="Calibri" pitchFamily="34" charset="-120"/>
              </a:rPr>
              <a:t>12 / 12   |   3 min</a:t>
            </a:r>
            <a:endParaRPr lang="en-US" sz="1400" dirty="0"/>
          </a:p>
        </p:txBody>
      </p:sp>
      <p:sp>
        <p:nvSpPr>
          <p:cNvPr id="7" name="Text 4"/>
          <p:cNvSpPr/>
          <p:nvPr/>
        </p:nvSpPr>
        <p:spPr>
          <a:xfrm>
            <a:off x="777240" y="2057400"/>
            <a:ext cx="822960" cy="640080"/>
          </a:xfrm>
          <a:prstGeom prst="rect">
            <a:avLst/>
          </a:prstGeom>
          <a:noFill/>
          <a:ln/>
        </p:spPr>
        <p:txBody>
          <a:bodyPr wrap="square" lIns="0" tIns="0" rIns="0" bIns="0" rtlCol="0" anchor="ctr"/>
          <a:lstStyle/>
          <a:p>
            <a:pPr indent="0" marL="0">
              <a:buNone/>
            </a:pPr>
            <a:r>
              <a:rPr lang="en-US" sz="3600" b="1" dirty="0">
                <a:solidFill>
                  <a:srgbClr val="C9F0DC"/>
                </a:solidFill>
                <a:latin typeface="Calibri" pitchFamily="34" charset="0"/>
                <a:ea typeface="Calibri" pitchFamily="34" charset="-122"/>
                <a:cs typeface="Calibri" pitchFamily="34" charset="-120"/>
              </a:rPr>
              <a:t>01</a:t>
            </a:r>
            <a:endParaRPr lang="en-US" sz="3600" dirty="0"/>
          </a:p>
        </p:txBody>
      </p:sp>
      <p:sp>
        <p:nvSpPr>
          <p:cNvPr id="8" name="Text 5"/>
          <p:cNvSpPr/>
          <p:nvPr/>
        </p:nvSpPr>
        <p:spPr>
          <a:xfrm>
            <a:off x="1874520" y="2084832"/>
            <a:ext cx="201168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Match</a:t>
            </a:r>
            <a:endParaRPr lang="en-US" sz="3000" dirty="0"/>
          </a:p>
        </p:txBody>
      </p:sp>
      <p:sp>
        <p:nvSpPr>
          <p:cNvPr id="9" name="Text 6"/>
          <p:cNvSpPr/>
          <p:nvPr/>
        </p:nvSpPr>
        <p:spPr>
          <a:xfrm>
            <a:off x="4023360" y="2084832"/>
            <a:ext cx="7315200" cy="59436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Queries match keys.</a:t>
            </a:r>
            <a:endParaRPr lang="en-US" sz="2500" dirty="0"/>
          </a:p>
        </p:txBody>
      </p:sp>
      <p:sp>
        <p:nvSpPr>
          <p:cNvPr id="10" name="Text 7"/>
          <p:cNvSpPr/>
          <p:nvPr/>
        </p:nvSpPr>
        <p:spPr>
          <a:xfrm>
            <a:off x="777240" y="3081528"/>
            <a:ext cx="822960" cy="640080"/>
          </a:xfrm>
          <a:prstGeom prst="rect">
            <a:avLst/>
          </a:prstGeom>
          <a:noFill/>
          <a:ln/>
        </p:spPr>
        <p:txBody>
          <a:bodyPr wrap="square" lIns="0" tIns="0" rIns="0" bIns="0" rtlCol="0" anchor="ctr"/>
          <a:lstStyle/>
          <a:p>
            <a:pPr indent="0" marL="0">
              <a:buNone/>
            </a:pPr>
            <a:r>
              <a:rPr lang="en-US" sz="3600" b="1" dirty="0">
                <a:solidFill>
                  <a:srgbClr val="F5D98B"/>
                </a:solidFill>
                <a:latin typeface="Calibri" pitchFamily="34" charset="0"/>
                <a:ea typeface="Calibri" pitchFamily="34" charset="-122"/>
                <a:cs typeface="Calibri" pitchFamily="34" charset="-120"/>
              </a:rPr>
              <a:t>02</a:t>
            </a:r>
            <a:endParaRPr lang="en-US" sz="3600" dirty="0"/>
          </a:p>
        </p:txBody>
      </p:sp>
      <p:sp>
        <p:nvSpPr>
          <p:cNvPr id="11" name="Text 8"/>
          <p:cNvSpPr/>
          <p:nvPr/>
        </p:nvSpPr>
        <p:spPr>
          <a:xfrm>
            <a:off x="1874520" y="3108960"/>
            <a:ext cx="201168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Mix</a:t>
            </a:r>
            <a:endParaRPr lang="en-US" sz="3000" dirty="0"/>
          </a:p>
        </p:txBody>
      </p:sp>
      <p:sp>
        <p:nvSpPr>
          <p:cNvPr id="12" name="Text 9"/>
          <p:cNvSpPr/>
          <p:nvPr/>
        </p:nvSpPr>
        <p:spPr>
          <a:xfrm>
            <a:off x="4023360" y="3108960"/>
            <a:ext cx="7315200" cy="59436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Weights blend values.</a:t>
            </a:r>
            <a:endParaRPr lang="en-US" sz="2500" dirty="0"/>
          </a:p>
        </p:txBody>
      </p:sp>
      <p:sp>
        <p:nvSpPr>
          <p:cNvPr id="13" name="Text 10"/>
          <p:cNvSpPr/>
          <p:nvPr/>
        </p:nvSpPr>
        <p:spPr>
          <a:xfrm>
            <a:off x="777240" y="4105656"/>
            <a:ext cx="822960" cy="640080"/>
          </a:xfrm>
          <a:prstGeom prst="rect">
            <a:avLst/>
          </a:prstGeom>
          <a:noFill/>
          <a:ln/>
        </p:spPr>
        <p:txBody>
          <a:bodyPr wrap="square" lIns="0" tIns="0" rIns="0" bIns="0" rtlCol="0" anchor="ctr"/>
          <a:lstStyle/>
          <a:p>
            <a:pPr indent="0" marL="0">
              <a:buNone/>
            </a:pPr>
            <a:r>
              <a:rPr lang="en-US" sz="3600" b="1" dirty="0">
                <a:solidFill>
                  <a:srgbClr val="F5B39A"/>
                </a:solidFill>
                <a:latin typeface="Calibri" pitchFamily="34" charset="0"/>
                <a:ea typeface="Calibri" pitchFamily="34" charset="-122"/>
                <a:cs typeface="Calibri" pitchFamily="34" charset="-120"/>
              </a:rPr>
              <a:t>03</a:t>
            </a:r>
            <a:endParaRPr lang="en-US" sz="3600" dirty="0"/>
          </a:p>
        </p:txBody>
      </p:sp>
      <p:sp>
        <p:nvSpPr>
          <p:cNvPr id="14" name="Text 11"/>
          <p:cNvSpPr/>
          <p:nvPr/>
        </p:nvSpPr>
        <p:spPr>
          <a:xfrm>
            <a:off x="1874520" y="4133088"/>
            <a:ext cx="201168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Update</a:t>
            </a:r>
            <a:endParaRPr lang="en-US" sz="3000" dirty="0"/>
          </a:p>
        </p:txBody>
      </p:sp>
      <p:sp>
        <p:nvSpPr>
          <p:cNvPr id="15" name="Text 12"/>
          <p:cNvSpPr/>
          <p:nvPr/>
        </p:nvSpPr>
        <p:spPr>
          <a:xfrm>
            <a:off x="4023360" y="4133088"/>
            <a:ext cx="7315200" cy="59436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A Transformer builds richer representations.</a:t>
            </a:r>
            <a:endParaRPr lang="en-US" sz="2500" dirty="0"/>
          </a:p>
        </p:txBody>
      </p:sp>
      <p:sp>
        <p:nvSpPr>
          <p:cNvPr id="16" name="Text 13"/>
          <p:cNvSpPr/>
          <p:nvPr/>
        </p:nvSpPr>
        <p:spPr>
          <a:xfrm>
            <a:off x="822960" y="5577840"/>
            <a:ext cx="10698480" cy="457200"/>
          </a:xfrm>
          <a:prstGeom prst="rect">
            <a:avLst/>
          </a:prstGeom>
          <a:noFill/>
          <a:ln/>
        </p:spPr>
        <p:txBody>
          <a:bodyPr wrap="square" lIns="0" tIns="0" rIns="0" bIns="0" rtlCol="0" anchor="ctr"/>
          <a:lstStyle/>
          <a:p>
            <a:pPr indent="0" marL="0">
              <a:buNone/>
            </a:pPr>
            <a:r>
              <a:rPr lang="en-US" sz="2500" dirty="0">
                <a:solidFill>
                  <a:srgbClr val="C9F0DC"/>
                </a:solidFill>
                <a:latin typeface="Calibri" pitchFamily="34" charset="0"/>
                <a:ea typeface="Calibri" pitchFamily="34" charset="-122"/>
                <a:cs typeface="Calibri" pitchFamily="34" charset="-120"/>
              </a:rPr>
              <a:t>Check: What gets mixed? Why hide the future?</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Data Science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 &amp; Transformers: The Simple Version</dc:title>
  <dc:subject>A beginner-friendly 30-minute introduction with presenter notes</dc:subject>
  <dc:creator>Data Science Workshop</dc:creator>
  <cp:lastModifiedBy>Data Science Workshop</cp:lastModifiedBy>
  <cp:revision>1</cp:revision>
  <dcterms:created xsi:type="dcterms:W3CDTF">2026-10-21T11:41:52Z</dcterms:created>
  <dcterms:modified xsi:type="dcterms:W3CDTF">2026-10-21T11:41:52Z</dcterms:modified>
</cp:coreProperties>
</file>